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715000" type="screen16x10"/>
  <p:notesSz cx="6858000" cy="9144000"/>
  <p:defaultTextStyle>
    <a:defPPr>
      <a:defRPr lang="en-US"/>
    </a:defPPr>
    <a:lvl1pPr marL="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1pPr>
    <a:lvl2pPr marL="35661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2pPr>
    <a:lvl3pPr marL="71323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3pPr>
    <a:lvl4pPr marL="106984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4pPr>
    <a:lvl5pPr marL="1426464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6pPr>
    <a:lvl7pPr marL="213969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7pPr>
    <a:lvl8pPr marL="249631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8pPr>
    <a:lvl9pPr marL="285292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1243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67F42-1B29-5855-AD57-EF1229163E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935302"/>
            <a:ext cx="6858000" cy="19896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BEB472-AD4B-A9CB-EE96-B96F6DCD24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2EE559-C5D8-9E12-121E-33F6AEA4E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590E6-7C11-434E-8308-D291A527550D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59A354-B9EB-0CD5-801E-918750C48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983FAE-7324-F629-FAE8-8EA075C37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CAD7A-9EFA-4B55-B46A-48AFCE36F8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8793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9E430-4270-0390-AD51-2F72DC1B3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036B93-DE12-BFEE-A05F-71AF63EE69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98B02F-E84D-36D7-A53B-39868A4FA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590E6-7C11-434E-8308-D291A527550D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971013-A6AF-3342-C11E-7A988E15D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A96D49-9240-F357-B892-3ECF7A17C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CAD7A-9EFA-4B55-B46A-48AFCE36F8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36373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403E2-9FB3-D9F3-E086-C8787954F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424782"/>
            <a:ext cx="7886700" cy="2377281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2F3458-7DCC-43E6-1F89-0D2D657C14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824553"/>
            <a:ext cx="7886700" cy="1250156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7FD82D-F2A1-32B2-36F1-8F2D53AC6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590E6-7C11-434E-8308-D291A527550D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84BC56-E680-21CE-90DE-C56860A21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DB52E3-5D87-31BC-9529-6BDA163BA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CAD7A-9EFA-4B55-B46A-48AFCE36F8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69982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AD627-6015-730D-C6E7-3A72734CA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1F9E02-17B7-8839-1151-A107112505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2D726B-4864-FF9A-65DE-16774D2F99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EC9CA1-9262-B275-B688-7E624BD2A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590E6-7C11-434E-8308-D291A527550D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2C4029-8B10-CD30-9BE2-5C929089B8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27EDD5-10CF-3967-4FCC-755EDE148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CAD7A-9EFA-4B55-B46A-48AFCE36F8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93551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3511E-FE08-0A97-8747-C592807C1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04271"/>
            <a:ext cx="7886700" cy="11046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0E14B2-A5C4-B4AC-5357-B82112FE16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400969"/>
            <a:ext cx="3868340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445A7E-DBDF-5564-1FD7-CCAEF3DFB8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087563"/>
            <a:ext cx="3868340" cy="3070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5F3AE3-B599-ADEB-B3C1-EB693CDFF9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400969"/>
            <a:ext cx="3887391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A2E94E-5D62-CFFE-8B2E-73BD87002A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087563"/>
            <a:ext cx="3887391" cy="3070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CE17E9-3D92-95AB-E878-E14EC1B5F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590E6-7C11-434E-8308-D291A527550D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704388-B631-6719-3EEF-9844BC92FC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254835-3A39-3B7D-F90F-9B3DB79D6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CAD7A-9EFA-4B55-B46A-48AFCE36F8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08328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00297-87AA-77D4-8343-EACE559E7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6938E0-6FB7-47F7-3651-34162AFE2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590E6-7C11-434E-8308-D291A527550D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BA2B20-63D6-E7AB-004F-CE2DF9118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A2B064-309D-8303-C6A5-53569AFFB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CAD7A-9EFA-4B55-B46A-48AFCE36F8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63941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5FCD0C-F7FD-6133-535D-14CD21A3E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590E6-7C11-434E-8308-D291A527550D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9D5DF9-34AA-D473-F1DC-AE201A846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AA87AB-971B-9284-B3E7-45C8028A4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CAD7A-9EFA-4B55-B46A-48AFCE36F8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13777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9CD64-9183-5170-037E-8685C47A0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7E1490-AC1B-BF70-76D4-A602E8F94E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822855"/>
            <a:ext cx="4629150" cy="406135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B61B6B-AB27-49A4-59B1-05F99B884D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B9CB8B-CBF9-4E97-3BAC-562A94640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590E6-7C11-434E-8308-D291A527550D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C81E0F-3FF1-A4A0-019A-BA43DBEF2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E8DAE1-B23F-ECD5-89D9-31071F9F5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CAD7A-9EFA-4B55-B46A-48AFCE36F8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61459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49EBA-B6AB-1B35-B217-6935F76DE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4D8030-477C-EDFE-5A92-41E0295A7AAF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3887391" y="822855"/>
            <a:ext cx="4629150" cy="4061354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50E39A-4E14-B479-FE8F-824128464A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7D9DE8-D489-3C1B-2924-E7290D210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590E6-7C11-434E-8308-D291A527550D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EB77CA-62D3-66EA-ADF8-46E69E8F7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C2331F-E28F-9480-B3B3-305E2C693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CAD7A-9EFA-4B55-B46A-48AFCE36F8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08042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A843B-769C-3808-166E-7966A4973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783BA4-E334-F327-FAEE-0992946FCC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BF70DB-8F79-D32F-8029-7CCA46DFC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590E6-7C11-434E-8308-D291A527550D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198276-21F3-4C9F-CFA6-236869962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B8354C-0436-E04F-F392-C287E2ADB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CAD7A-9EFA-4B55-B46A-48AFCE36F8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98064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2F3A1F-EBD3-CB21-43A7-CA29E505D6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04271"/>
            <a:ext cx="1971675" cy="48431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C17364-4533-EEF5-AC26-A6943FD570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04271"/>
            <a:ext cx="5800725" cy="484319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06C95F-2A25-529E-F272-0644EEF6D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590E6-7C11-434E-8308-D291A527550D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704696-1E56-3CAF-E312-4A405EC1C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FEFE5F-AEAF-5DB4-90D9-D349B5499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5CAD7A-9EFA-4B55-B46A-48AFCE36F8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76457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FBDCE5F-1B79-CD9D-70D9-5F34401298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681F19-0912-BE95-B524-424E454443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521354"/>
            <a:ext cx="7886700" cy="3626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F5BA45-6214-C450-3F6E-4901D859DC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B590E6-7C11-434E-8308-D291A527550D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C1CBC4-2131-4B92-6659-4E4DFCBE2C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5296959"/>
            <a:ext cx="30861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5A5C0B-C394-5B50-148E-26188D82E6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5CAD7A-9EFA-4B55-B46A-48AFCE36F8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01770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E769B20-F2B6-D418-7947-7CACF994499D}"/>
              </a:ext>
            </a:extLst>
          </p:cNvPr>
          <p:cNvSpPr txBox="1"/>
          <p:nvPr/>
        </p:nvSpPr>
        <p:spPr>
          <a:xfrm>
            <a:off x="731520" y="566928"/>
            <a:ext cx="475488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100" b="1">
                <a:solidFill>
                  <a:srgbClr val="D8EF72"/>
                </a:solidFill>
                <a:latin typeface="Aptos" panose="020B0004020202020204" pitchFamily="34" charset="0"/>
              </a:rPr>
              <a:t>YASK-CIEM  /  SOLUTION 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0E5AC0-7A5E-2CE5-C9EE-5AA6F0B98717}"/>
              </a:ext>
            </a:extLst>
          </p:cNvPr>
          <p:cNvSpPr txBox="1"/>
          <p:nvPr/>
        </p:nvSpPr>
        <p:spPr>
          <a:xfrm>
            <a:off x="731520" y="1508760"/>
            <a:ext cx="6400800" cy="110799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3600" b="1">
                <a:solidFill>
                  <a:srgbClr val="F6F4EC"/>
                </a:solidFill>
                <a:latin typeface="Georgia" panose="02040502050405020303" pitchFamily="18" charset="0"/>
              </a:rPr>
              <a:t>Make cloud access\nexplainable.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BB9601-890D-072F-538F-A77AB7A108CB}"/>
              </a:ext>
            </a:extLst>
          </p:cNvPr>
          <p:cNvSpPr txBox="1"/>
          <p:nvPr/>
        </p:nvSpPr>
        <p:spPr>
          <a:xfrm>
            <a:off x="749808" y="3337560"/>
            <a:ext cx="484632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>
                <a:solidFill>
                  <a:srgbClr val="C5D0C9"/>
                </a:solidFill>
                <a:latin typeface="Aptos" panose="020B0004020202020204" pitchFamily="34" charset="0"/>
              </a:rPr>
              <a:t>A Windows-first, read-only view of identity, entitlement, and risk across cloud providers.</a:t>
            </a:r>
            <a:endParaRPr lang="en-IN" sz="1700">
              <a:solidFill>
                <a:srgbClr val="C5D0C9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115B02-296D-284B-C9A8-E0798143E629}"/>
              </a:ext>
            </a:extLst>
          </p:cNvPr>
          <p:cNvSpPr txBox="1"/>
          <p:nvPr/>
        </p:nvSpPr>
        <p:spPr>
          <a:xfrm>
            <a:off x="749808" y="6062472"/>
            <a:ext cx="4572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000">
                <a:solidFill>
                  <a:srgbClr val="AAB7AF"/>
                </a:solidFill>
                <a:latin typeface="Aptos" panose="020B0004020202020204" pitchFamily="34" charset="0"/>
              </a:rPr>
              <a:t>Engineering overview  •  October 2026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52293ED-224B-03FD-9156-99FE5533471C}"/>
              </a:ext>
            </a:extLst>
          </p:cNvPr>
          <p:cNvSpPr/>
          <p:nvPr/>
        </p:nvSpPr>
        <p:spPr>
          <a:xfrm>
            <a:off x="7726680" y="1234440"/>
            <a:ext cx="3657600" cy="4526280"/>
          </a:xfrm>
          <a:prstGeom prst="roundRect">
            <a:avLst/>
          </a:prstGeom>
          <a:solidFill>
            <a:srgbClr val="26332F"/>
          </a:solidFill>
          <a:ln w="8890">
            <a:solidFill>
              <a:srgbClr val="3A4A4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65AF35-2C9F-5CD0-244F-EA0628885B81}"/>
              </a:ext>
            </a:extLst>
          </p:cNvPr>
          <p:cNvSpPr txBox="1"/>
          <p:nvPr/>
        </p:nvSpPr>
        <p:spPr>
          <a:xfrm>
            <a:off x="8092440" y="1600200"/>
            <a:ext cx="292608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000" b="1">
                <a:solidFill>
                  <a:srgbClr val="D8EF72"/>
                </a:solidFill>
                <a:latin typeface="Aptos" panose="020B0004020202020204" pitchFamily="34" charset="0"/>
              </a:rPr>
              <a:t>ONE QUESTION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5FDB65-E408-0D30-28A8-1E0C30A98B50}"/>
              </a:ext>
            </a:extLst>
          </p:cNvPr>
          <p:cNvSpPr txBox="1"/>
          <p:nvPr/>
        </p:nvSpPr>
        <p:spPr>
          <a:xfrm>
            <a:off x="8092440" y="2084832"/>
            <a:ext cx="2880360" cy="115416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500" b="1">
                <a:solidFill>
                  <a:srgbClr val="F6F4EC"/>
                </a:solidFill>
                <a:latin typeface="Georgia" panose="02040502050405020303" pitchFamily="18" charset="0"/>
              </a:rPr>
              <a:t>Who can do\nwhat, where?</a:t>
            </a:r>
            <a:endParaRPr lang="en-IN" sz="2500" b="1">
              <a:solidFill>
                <a:srgbClr val="F6F4EC"/>
              </a:solidFill>
              <a:latin typeface="Georgia" panose="02040502050405020303" pitchFamily="18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E9DB4B7-8045-69CC-DB84-87474C848017}"/>
              </a:ext>
            </a:extLst>
          </p:cNvPr>
          <p:cNvSpPr/>
          <p:nvPr/>
        </p:nvSpPr>
        <p:spPr>
          <a:xfrm>
            <a:off x="8101584" y="3456432"/>
            <a:ext cx="2825496" cy="0"/>
          </a:xfrm>
          <a:prstGeom prst="ellipse">
            <a:avLst/>
          </a:prstGeom>
          <a:ln w="12700">
            <a:solidFill>
              <a:srgbClr val="5262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58B52E7-0EB8-2EC5-74A4-92014D14A08C}"/>
              </a:ext>
            </a:extLst>
          </p:cNvPr>
          <p:cNvSpPr txBox="1"/>
          <p:nvPr/>
        </p:nvSpPr>
        <p:spPr>
          <a:xfrm>
            <a:off x="8092440" y="3694176"/>
            <a:ext cx="283464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100" b="1">
                <a:solidFill>
                  <a:srgbClr val="F6F4EC"/>
                </a:solidFill>
                <a:latin typeface="Aptos" panose="020B0004020202020204" pitchFamily="34" charset="0"/>
              </a:rPr>
              <a:t>AZURE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EB1DBDE-C601-7C59-566E-0A6B7C79CD8A}"/>
              </a:ext>
            </a:extLst>
          </p:cNvPr>
          <p:cNvSpPr txBox="1"/>
          <p:nvPr/>
        </p:nvSpPr>
        <p:spPr>
          <a:xfrm>
            <a:off x="9144000" y="3694176"/>
            <a:ext cx="192024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100" b="1">
                <a:solidFill>
                  <a:srgbClr val="F6F4EC"/>
                </a:solidFill>
                <a:latin typeface="Aptos" panose="020B0004020202020204" pitchFamily="34" charset="0"/>
              </a:rPr>
              <a:t>AWS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5A5E093-276C-6ECA-A19C-1A1432EF6F56}"/>
              </a:ext>
            </a:extLst>
          </p:cNvPr>
          <p:cNvSpPr txBox="1"/>
          <p:nvPr/>
        </p:nvSpPr>
        <p:spPr>
          <a:xfrm>
            <a:off x="8092440" y="4160520"/>
            <a:ext cx="283464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100" b="1">
                <a:solidFill>
                  <a:srgbClr val="F6F4EC"/>
                </a:solidFill>
                <a:latin typeface="Aptos" panose="020B0004020202020204" pitchFamily="34" charset="0"/>
              </a:rPr>
              <a:t>GOOGLE CLOUD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E2B99C5-8E39-71C7-4B5C-8185E5A2B0E2}"/>
              </a:ext>
            </a:extLst>
          </p:cNvPr>
          <p:cNvSpPr txBox="1"/>
          <p:nvPr/>
        </p:nvSpPr>
        <p:spPr>
          <a:xfrm>
            <a:off x="8092440" y="4892040"/>
            <a:ext cx="283464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100">
                <a:solidFill>
                  <a:srgbClr val="AAB7AF"/>
                </a:solidFill>
                <a:latin typeface="Aptos" panose="020B0004020202020204" pitchFamily="34" charset="0"/>
              </a:rPr>
              <a:t>Read-only discovery  /  local evidence</a:t>
            </a:r>
          </a:p>
        </p:txBody>
      </p:sp>
    </p:spTree>
    <p:extLst>
      <p:ext uri="{BB962C8B-B14F-4D97-AF65-F5344CB8AC3E}">
        <p14:creationId xmlns:p14="http://schemas.microsoft.com/office/powerpoint/2010/main" val="10291056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AAEC63F-202F-364A-C3DD-7AF06F507662}"/>
              </a:ext>
            </a:extLst>
          </p:cNvPr>
          <p:cNvSpPr txBox="1"/>
          <p:nvPr/>
        </p:nvSpPr>
        <p:spPr>
          <a:xfrm>
            <a:off x="566928" y="347472"/>
            <a:ext cx="1078992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000" b="1">
                <a:solidFill>
                  <a:srgbClr val="668277"/>
                </a:solidFill>
                <a:latin typeface="Aptos" panose="020B0004020202020204" pitchFamily="34" charset="0"/>
              </a:rPr>
              <a:t>01 / THE PROBLEM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CFB30A-265B-C993-AA71-57FDF1212314}"/>
              </a:ext>
            </a:extLst>
          </p:cNvPr>
          <p:cNvSpPr txBox="1"/>
          <p:nvPr/>
        </p:nvSpPr>
        <p:spPr>
          <a:xfrm>
            <a:off x="566928" y="658368"/>
            <a:ext cx="109728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700" b="1">
                <a:solidFill>
                  <a:srgbClr val="18211F"/>
                </a:solidFill>
                <a:latin typeface="Georgia" panose="02040502050405020303" pitchFamily="18" charset="0"/>
              </a:rPr>
              <a:t>Access is fragmented by cloud and identity layer</a:t>
            </a:r>
            <a:endParaRPr lang="en-IN" sz="2700" b="1">
              <a:solidFill>
                <a:srgbClr val="18211F"/>
              </a:solidFill>
              <a:latin typeface="Georgia" panose="02040502050405020303" pitchFamily="18" charset="0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3DF4A84-0AFE-67D2-31DB-64A80381EA3A}"/>
              </a:ext>
            </a:extLst>
          </p:cNvPr>
          <p:cNvSpPr/>
          <p:nvPr/>
        </p:nvSpPr>
        <p:spPr>
          <a:xfrm>
            <a:off x="566928" y="6382512"/>
            <a:ext cx="11064240" cy="0"/>
          </a:xfrm>
          <a:prstGeom prst="ellipse">
            <a:avLst/>
          </a:prstGeom>
          <a:ln w="10160">
            <a:solidFill>
              <a:srgbClr val="D6DD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112690-4B38-CFA7-B146-8B8B7016EA6B}"/>
              </a:ext>
            </a:extLst>
          </p:cNvPr>
          <p:cNvSpPr txBox="1"/>
          <p:nvPr/>
        </p:nvSpPr>
        <p:spPr>
          <a:xfrm>
            <a:off x="566928" y="6464808"/>
            <a:ext cx="996696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800">
                <a:solidFill>
                  <a:srgbClr val="64716B"/>
                </a:solidFill>
                <a:latin typeface="Aptos" panose="020B0004020202020204" pitchFamily="34" charset="0"/>
              </a:rPr>
              <a:t>Sources: README.md; docs/architecture/domain-model.md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2BA6DD-E2FC-5FBC-131B-EB602E202256}"/>
              </a:ext>
            </a:extLst>
          </p:cNvPr>
          <p:cNvSpPr txBox="1"/>
          <p:nvPr/>
        </p:nvSpPr>
        <p:spPr>
          <a:xfrm>
            <a:off x="10972800" y="6437376"/>
            <a:ext cx="64008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900" b="1">
                <a:solidFill>
                  <a:srgbClr val="64716B"/>
                </a:solidFill>
                <a:latin typeface="Aptos" panose="020B0004020202020204" pitchFamily="34" charset="0"/>
              </a:rPr>
              <a:t>02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D60B0D-48C0-C062-68C7-5BFDB423837A}"/>
              </a:ext>
            </a:extLst>
          </p:cNvPr>
          <p:cNvSpPr txBox="1"/>
          <p:nvPr/>
        </p:nvSpPr>
        <p:spPr>
          <a:xfrm>
            <a:off x="658368" y="1353312"/>
            <a:ext cx="1060704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>
                <a:solidFill>
                  <a:srgbClr val="45534D"/>
                </a:solidFill>
                <a:latin typeface="Aptos" panose="020B0004020202020204" pitchFamily="34" charset="0"/>
              </a:rPr>
              <a:t>Teams need one defensible answer, not three provider consoles and a pile of role names.</a:t>
            </a:r>
            <a:endParaRPr lang="en-IN" sz="1600">
              <a:solidFill>
                <a:srgbClr val="45534D"/>
              </a:solidFill>
              <a:latin typeface="Aptos" panose="020B000402020202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E3ED215-2DE7-48E4-EE8A-A2BEB76B9E06}"/>
              </a:ext>
            </a:extLst>
          </p:cNvPr>
          <p:cNvSpPr/>
          <p:nvPr/>
        </p:nvSpPr>
        <p:spPr>
          <a:xfrm>
            <a:off x="658368" y="2148840"/>
            <a:ext cx="3429000" cy="140817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6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B258341-BB32-C5FD-70D6-FB9B4FBB7078}"/>
              </a:ext>
            </a:extLst>
          </p:cNvPr>
          <p:cNvSpPr/>
          <p:nvPr/>
        </p:nvSpPr>
        <p:spPr>
          <a:xfrm>
            <a:off x="822960" y="2350008"/>
            <a:ext cx="54864" cy="1005840"/>
          </a:xfrm>
          <a:prstGeom prst="rect">
            <a:avLst/>
          </a:prstGeom>
          <a:solidFill>
            <a:srgbClr val="72B7A1"/>
          </a:solidFill>
          <a:ln w="8890">
            <a:solidFill>
              <a:srgbClr val="72B7A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E1F26FA-465C-4AF8-2FD5-4C65FD346EFE}"/>
              </a:ext>
            </a:extLst>
          </p:cNvPr>
          <p:cNvSpPr txBox="1"/>
          <p:nvPr/>
        </p:nvSpPr>
        <p:spPr>
          <a:xfrm>
            <a:off x="1024128" y="2359152"/>
            <a:ext cx="2898648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500" b="1">
                <a:solidFill>
                  <a:srgbClr val="18211F"/>
                </a:solidFill>
                <a:latin typeface="Aptos" panose="020B0004020202020204" pitchFamily="34" charset="0"/>
              </a:rPr>
              <a:t>Different policy languages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945BFB2-FF09-8CDF-1397-17ACBAEBC7B1}"/>
              </a:ext>
            </a:extLst>
          </p:cNvPr>
          <p:cNvSpPr txBox="1"/>
          <p:nvPr/>
        </p:nvSpPr>
        <p:spPr>
          <a:xfrm>
            <a:off x="1024128" y="2807208"/>
            <a:ext cx="2898648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>
                <a:solidFill>
                  <a:srgbClr val="45534D"/>
                </a:solidFill>
                <a:latin typeface="Aptos" panose="020B0004020202020204" pitchFamily="34" charset="0"/>
              </a:rPr>
              <a:t>Azure RBAC, AWS IAM, and GCP IAM express grants differently.</a:t>
            </a:r>
            <a:endParaRPr lang="en-IN" sz="1200">
              <a:solidFill>
                <a:srgbClr val="45534D"/>
              </a:solidFill>
              <a:latin typeface="Aptos" panose="020B0004020202020204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E4DF57-F6C9-2B08-63BB-759B6F491376}"/>
              </a:ext>
            </a:extLst>
          </p:cNvPr>
          <p:cNvSpPr/>
          <p:nvPr/>
        </p:nvSpPr>
        <p:spPr>
          <a:xfrm>
            <a:off x="4389120" y="2148840"/>
            <a:ext cx="3429000" cy="140817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6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6C3865B-CC59-1883-E055-8F2776FEC368}"/>
              </a:ext>
            </a:extLst>
          </p:cNvPr>
          <p:cNvSpPr/>
          <p:nvPr/>
        </p:nvSpPr>
        <p:spPr>
          <a:xfrm>
            <a:off x="4553712" y="2350008"/>
            <a:ext cx="54864" cy="1005840"/>
          </a:xfrm>
          <a:prstGeom prst="rect">
            <a:avLst/>
          </a:prstGeom>
          <a:solidFill>
            <a:srgbClr val="D8EF72"/>
          </a:solidFill>
          <a:ln w="8890">
            <a:solidFill>
              <a:srgbClr val="D8EF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FC67EAF-F9CD-7D61-D469-45F1FB819AA2}"/>
              </a:ext>
            </a:extLst>
          </p:cNvPr>
          <p:cNvSpPr txBox="1"/>
          <p:nvPr/>
        </p:nvSpPr>
        <p:spPr>
          <a:xfrm>
            <a:off x="4754880" y="2359152"/>
            <a:ext cx="2898648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500" b="1">
                <a:solidFill>
                  <a:srgbClr val="18211F"/>
                </a:solidFill>
                <a:latin typeface="Aptos" panose="020B0004020202020204" pitchFamily="34" charset="0"/>
              </a:rPr>
              <a:t>Access is indirect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19F986C-4836-7177-B800-213667D03476}"/>
              </a:ext>
            </a:extLst>
          </p:cNvPr>
          <p:cNvSpPr txBox="1"/>
          <p:nvPr/>
        </p:nvSpPr>
        <p:spPr>
          <a:xfrm>
            <a:off x="4754880" y="2807208"/>
            <a:ext cx="2898648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>
                <a:solidFill>
                  <a:srgbClr val="45534D"/>
                </a:solidFill>
                <a:latin typeface="Aptos" panose="020B0004020202020204" pitchFamily="34" charset="0"/>
              </a:rPr>
              <a:t>Groups, inheritance, scopes, conditions, and role chains obscure the real path.</a:t>
            </a:r>
            <a:endParaRPr lang="en-IN" sz="1200">
              <a:solidFill>
                <a:srgbClr val="45534D"/>
              </a:solidFill>
              <a:latin typeface="Aptos" panose="020B0004020202020204" pitchFamily="34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74D3525-E3C4-1DD3-DAD9-D7E77372628E}"/>
              </a:ext>
            </a:extLst>
          </p:cNvPr>
          <p:cNvSpPr/>
          <p:nvPr/>
        </p:nvSpPr>
        <p:spPr>
          <a:xfrm>
            <a:off x="8119872" y="2148840"/>
            <a:ext cx="3429000" cy="1408176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6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3527E69-A799-39FD-DC1B-496CD3193BEB}"/>
              </a:ext>
            </a:extLst>
          </p:cNvPr>
          <p:cNvSpPr/>
          <p:nvPr/>
        </p:nvSpPr>
        <p:spPr>
          <a:xfrm>
            <a:off x="8284464" y="2350008"/>
            <a:ext cx="54864" cy="1005840"/>
          </a:xfrm>
          <a:prstGeom prst="rect">
            <a:avLst/>
          </a:prstGeom>
          <a:solidFill>
            <a:srgbClr val="F07D5D"/>
          </a:solidFill>
          <a:ln w="8890">
            <a:solidFill>
              <a:srgbClr val="F07D5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1412566-A195-D1B1-4A90-44293989ACD2}"/>
              </a:ext>
            </a:extLst>
          </p:cNvPr>
          <p:cNvSpPr txBox="1"/>
          <p:nvPr/>
        </p:nvSpPr>
        <p:spPr>
          <a:xfrm>
            <a:off x="8485632" y="2359152"/>
            <a:ext cx="2898648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500" b="1">
                <a:solidFill>
                  <a:srgbClr val="18211F"/>
                </a:solidFill>
                <a:latin typeface="Aptos" panose="020B0004020202020204" pitchFamily="34" charset="0"/>
              </a:rPr>
              <a:t>Risk needs evidence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87E644A-9C3B-FAD1-5440-5A714FE31EB9}"/>
              </a:ext>
            </a:extLst>
          </p:cNvPr>
          <p:cNvSpPr txBox="1"/>
          <p:nvPr/>
        </p:nvSpPr>
        <p:spPr>
          <a:xfrm>
            <a:off x="8485632" y="2807208"/>
            <a:ext cx="2898648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>
                <a:solidFill>
                  <a:srgbClr val="45534D"/>
                </a:solidFill>
                <a:latin typeface="Aptos" panose="020B0004020202020204" pitchFamily="34" charset="0"/>
              </a:rPr>
              <a:t>A powerful role alone is not proof of excessive access or business impact.</a:t>
            </a:r>
            <a:endParaRPr lang="en-IN" sz="1200">
              <a:solidFill>
                <a:srgbClr val="45534D"/>
              </a:solidFill>
              <a:latin typeface="Aptos" panose="020B0004020202020204" pitchFamily="34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BB19C9C9-8731-68A7-77EB-7ED3DD518414}"/>
              </a:ext>
            </a:extLst>
          </p:cNvPr>
          <p:cNvSpPr/>
          <p:nvPr/>
        </p:nvSpPr>
        <p:spPr>
          <a:xfrm>
            <a:off x="658368" y="4160520"/>
            <a:ext cx="10890505" cy="1161288"/>
          </a:xfrm>
          <a:prstGeom prst="roundRect">
            <a:avLst/>
          </a:prstGeom>
          <a:solidFill>
            <a:srgbClr val="E7ECE3"/>
          </a:solidFill>
          <a:ln w="8890">
            <a:solidFill>
              <a:srgbClr val="E7EC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786EF06-2E44-2C01-7000-D1FA96458EA6}"/>
              </a:ext>
            </a:extLst>
          </p:cNvPr>
          <p:cNvSpPr txBox="1"/>
          <p:nvPr/>
        </p:nvSpPr>
        <p:spPr>
          <a:xfrm>
            <a:off x="960120" y="4425696"/>
            <a:ext cx="1024128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800" b="1">
                <a:solidFill>
                  <a:srgbClr val="18211F"/>
                </a:solidFill>
                <a:latin typeface="Georgia" panose="02040502050405020303" pitchFamily="18" charset="0"/>
              </a:rPr>
              <a:t>YASK-CIEM design goal: preserve provider meaning while making access and findings comparable.</a:t>
            </a:r>
            <a:endParaRPr lang="en-IN" sz="1800" b="1">
              <a:solidFill>
                <a:srgbClr val="18211F"/>
              </a:solidFill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16738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B478AE2-76F0-1316-0661-8B82C1C13D35}"/>
              </a:ext>
            </a:extLst>
          </p:cNvPr>
          <p:cNvSpPr txBox="1"/>
          <p:nvPr/>
        </p:nvSpPr>
        <p:spPr>
          <a:xfrm>
            <a:off x="566928" y="347472"/>
            <a:ext cx="1078992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000" b="1">
                <a:solidFill>
                  <a:srgbClr val="668277"/>
                </a:solidFill>
                <a:latin typeface="Aptos" panose="020B0004020202020204" pitchFamily="34" charset="0"/>
              </a:rPr>
              <a:t>02 / THE ANALYSIS PATH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952395-2100-66CA-5A10-B2DE60245740}"/>
              </a:ext>
            </a:extLst>
          </p:cNvPr>
          <p:cNvSpPr txBox="1"/>
          <p:nvPr/>
        </p:nvSpPr>
        <p:spPr>
          <a:xfrm>
            <a:off x="566928" y="658368"/>
            <a:ext cx="109728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700" b="1">
                <a:solidFill>
                  <a:srgbClr val="18211F"/>
                </a:solidFill>
                <a:latin typeface="Georgia" panose="02040502050405020303" pitchFamily="18" charset="0"/>
              </a:rPr>
              <a:t>From provider data to a finding you can inspect</a:t>
            </a:r>
            <a:endParaRPr lang="en-IN" sz="2700" b="1">
              <a:solidFill>
                <a:srgbClr val="18211F"/>
              </a:solidFill>
              <a:latin typeface="Georgia" panose="02040502050405020303" pitchFamily="18" charset="0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01C8A22-13D8-5E36-C82F-D517DC0CD81A}"/>
              </a:ext>
            </a:extLst>
          </p:cNvPr>
          <p:cNvSpPr/>
          <p:nvPr/>
        </p:nvSpPr>
        <p:spPr>
          <a:xfrm>
            <a:off x="566928" y="6382512"/>
            <a:ext cx="11064240" cy="0"/>
          </a:xfrm>
          <a:prstGeom prst="ellipse">
            <a:avLst/>
          </a:prstGeom>
          <a:ln w="10160">
            <a:solidFill>
              <a:srgbClr val="D6DD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862F25-3E0C-EBCD-45E7-0DD762719CE1}"/>
              </a:ext>
            </a:extLst>
          </p:cNvPr>
          <p:cNvSpPr txBox="1"/>
          <p:nvPr/>
        </p:nvSpPr>
        <p:spPr>
          <a:xfrm>
            <a:off x="566928" y="6464808"/>
            <a:ext cx="996696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800">
                <a:solidFill>
                  <a:srgbClr val="64716B"/>
                </a:solidFill>
                <a:latin typeface="Aptos" panose="020B0004020202020204" pitchFamily="34" charset="0"/>
              </a:rPr>
              <a:t>Sources: docs/cloud/provider-execution.md; docs/architecture/entitlement-normalization.md; docs/architecture/risk-engine.md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055FEA-BAE4-31C1-379F-8C2022F50D52}"/>
              </a:ext>
            </a:extLst>
          </p:cNvPr>
          <p:cNvSpPr txBox="1"/>
          <p:nvPr/>
        </p:nvSpPr>
        <p:spPr>
          <a:xfrm>
            <a:off x="10972800" y="6437376"/>
            <a:ext cx="64008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900" b="1">
                <a:solidFill>
                  <a:srgbClr val="64716B"/>
                </a:solidFill>
                <a:latin typeface="Aptos" panose="020B0004020202020204" pitchFamily="34" charset="0"/>
              </a:rPr>
              <a:t>03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5BF6076-8E1E-AB20-63A1-6548A289B95D}"/>
              </a:ext>
            </a:extLst>
          </p:cNvPr>
          <p:cNvSpPr/>
          <p:nvPr/>
        </p:nvSpPr>
        <p:spPr>
          <a:xfrm>
            <a:off x="566928" y="1828800"/>
            <a:ext cx="2084832" cy="25146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6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DA3CFF-DAE7-FD51-7854-DB5240B44C27}"/>
              </a:ext>
            </a:extLst>
          </p:cNvPr>
          <p:cNvSpPr txBox="1"/>
          <p:nvPr/>
        </p:nvSpPr>
        <p:spPr>
          <a:xfrm>
            <a:off x="749808" y="2029968"/>
            <a:ext cx="155448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100" b="1">
                <a:solidFill>
                  <a:srgbClr val="668277"/>
                </a:solidFill>
                <a:latin typeface="Aptos" panose="020B0004020202020204" pitchFamily="34" charset="0"/>
              </a:rPr>
              <a:t>01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0AB7AF-FD68-D241-240B-6D491065391C}"/>
              </a:ext>
            </a:extLst>
          </p:cNvPr>
          <p:cNvSpPr txBox="1"/>
          <p:nvPr/>
        </p:nvSpPr>
        <p:spPr>
          <a:xfrm>
            <a:off x="749808" y="2450592"/>
            <a:ext cx="169164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700" b="1">
                <a:solidFill>
                  <a:srgbClr val="18211F"/>
                </a:solidFill>
                <a:latin typeface="Aptos" panose="020B0004020202020204" pitchFamily="34" charset="0"/>
              </a:rPr>
              <a:t>Collect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5CC7BEA-4461-ACF4-2241-EB1BB748127F}"/>
              </a:ext>
            </a:extLst>
          </p:cNvPr>
          <p:cNvSpPr txBox="1"/>
          <p:nvPr/>
        </p:nvSpPr>
        <p:spPr>
          <a:xfrm>
            <a:off x="749808" y="2971800"/>
            <a:ext cx="169164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45534D"/>
                </a:solidFill>
                <a:latin typeface="Aptos" panose="020B0004020202020204" pitchFamily="34" charset="0"/>
              </a:rPr>
              <a:t>Read-only CLI discovery from Azure, AWS, and GCP.</a:t>
            </a:r>
            <a:endParaRPr lang="en-IN" sz="1100">
              <a:solidFill>
                <a:srgbClr val="45534D"/>
              </a:solidFill>
              <a:latin typeface="Aptos" panose="020B0004020202020204" pitchFamily="34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AC1EDE1-57B3-94A1-BB55-35AC935B2ED1}"/>
              </a:ext>
            </a:extLst>
          </p:cNvPr>
          <p:cNvSpPr/>
          <p:nvPr/>
        </p:nvSpPr>
        <p:spPr>
          <a:xfrm>
            <a:off x="2660904" y="3044952"/>
            <a:ext cx="173736" cy="0"/>
          </a:xfrm>
          <a:prstGeom prst="ellipse">
            <a:avLst/>
          </a:prstGeom>
          <a:ln w="25400">
            <a:solidFill>
              <a:srgbClr val="F07D5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3B46879-A969-B308-45C1-A26A2F7E79A7}"/>
              </a:ext>
            </a:extLst>
          </p:cNvPr>
          <p:cNvSpPr/>
          <p:nvPr/>
        </p:nvSpPr>
        <p:spPr>
          <a:xfrm>
            <a:off x="2871216" y="1828800"/>
            <a:ext cx="2084832" cy="25146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6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AAE7285-4562-9567-1DA0-EF3FCD03BE75}"/>
              </a:ext>
            </a:extLst>
          </p:cNvPr>
          <p:cNvSpPr txBox="1"/>
          <p:nvPr/>
        </p:nvSpPr>
        <p:spPr>
          <a:xfrm>
            <a:off x="3054096" y="2029968"/>
            <a:ext cx="155448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100" b="1">
                <a:solidFill>
                  <a:srgbClr val="668277"/>
                </a:solidFill>
                <a:latin typeface="Aptos" panose="020B0004020202020204" pitchFamily="34" charset="0"/>
              </a:rPr>
              <a:t>02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872846C-71F2-6509-C89B-A73137A71268}"/>
              </a:ext>
            </a:extLst>
          </p:cNvPr>
          <p:cNvSpPr txBox="1"/>
          <p:nvPr/>
        </p:nvSpPr>
        <p:spPr>
          <a:xfrm>
            <a:off x="3054096" y="2450592"/>
            <a:ext cx="169164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700" b="1">
                <a:solidFill>
                  <a:srgbClr val="18211F"/>
                </a:solidFill>
                <a:latin typeface="Aptos" panose="020B0004020202020204" pitchFamily="34" charset="0"/>
              </a:rPr>
              <a:t>Normalize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FA62012-61C4-FD79-28C1-03AB446211E9}"/>
              </a:ext>
            </a:extLst>
          </p:cNvPr>
          <p:cNvSpPr txBox="1"/>
          <p:nvPr/>
        </p:nvSpPr>
        <p:spPr>
          <a:xfrm>
            <a:off x="3054096" y="2971800"/>
            <a:ext cx="1691640" cy="5078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100">
                <a:solidFill>
                  <a:srgbClr val="45534D"/>
                </a:solidFill>
                <a:latin typeface="Aptos" panose="020B0004020202020204" pitchFamily="34" charset="0"/>
              </a:rPr>
              <a:t>Map identities, roles, permissions, scopes, and source evidence.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7A26049-235C-334C-F192-C8781FFCD373}"/>
              </a:ext>
            </a:extLst>
          </p:cNvPr>
          <p:cNvSpPr/>
          <p:nvPr/>
        </p:nvSpPr>
        <p:spPr>
          <a:xfrm>
            <a:off x="4965192" y="3044952"/>
            <a:ext cx="173736" cy="0"/>
          </a:xfrm>
          <a:prstGeom prst="ellipse">
            <a:avLst/>
          </a:prstGeom>
          <a:ln w="25400">
            <a:solidFill>
              <a:srgbClr val="F07D5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8738E24-D3D8-06AF-AEA5-CC80BA02C023}"/>
              </a:ext>
            </a:extLst>
          </p:cNvPr>
          <p:cNvSpPr/>
          <p:nvPr/>
        </p:nvSpPr>
        <p:spPr>
          <a:xfrm>
            <a:off x="5175504" y="1828800"/>
            <a:ext cx="2084832" cy="25146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6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304A9B9-062E-C7CA-4D3A-D4BD2DE5E5D4}"/>
              </a:ext>
            </a:extLst>
          </p:cNvPr>
          <p:cNvSpPr txBox="1"/>
          <p:nvPr/>
        </p:nvSpPr>
        <p:spPr>
          <a:xfrm>
            <a:off x="5358384" y="2029968"/>
            <a:ext cx="155448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100" b="1">
                <a:solidFill>
                  <a:srgbClr val="668277"/>
                </a:solidFill>
                <a:latin typeface="Aptos" panose="020B0004020202020204" pitchFamily="34" charset="0"/>
              </a:rPr>
              <a:t>03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812981B-EF27-6894-0ED7-B72465FA2BFA}"/>
              </a:ext>
            </a:extLst>
          </p:cNvPr>
          <p:cNvSpPr txBox="1"/>
          <p:nvPr/>
        </p:nvSpPr>
        <p:spPr>
          <a:xfrm>
            <a:off x="5358384" y="2450592"/>
            <a:ext cx="169164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700" b="1">
                <a:solidFill>
                  <a:srgbClr val="18211F"/>
                </a:solidFill>
                <a:latin typeface="Aptos" panose="020B0004020202020204" pitchFamily="34" charset="0"/>
              </a:rPr>
              <a:t>Resolve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E56D442-4BE5-6BBA-C8CB-4D8751DBCEE5}"/>
              </a:ext>
            </a:extLst>
          </p:cNvPr>
          <p:cNvSpPr txBox="1"/>
          <p:nvPr/>
        </p:nvSpPr>
        <p:spPr>
          <a:xfrm>
            <a:off x="5358384" y="2971800"/>
            <a:ext cx="1691640" cy="5078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45534D"/>
                </a:solidFill>
                <a:latin typeface="Aptos" panose="020B0004020202020204" pitchFamily="34" charset="0"/>
              </a:rPr>
              <a:t>Evaluate effective access with uncertainty and provider semantics.</a:t>
            </a:r>
            <a:endParaRPr lang="en-IN" sz="1100">
              <a:solidFill>
                <a:srgbClr val="45534D"/>
              </a:solidFill>
              <a:latin typeface="Aptos" panose="020B0004020202020204" pitchFamily="34" charset="0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6D8F365F-2826-459A-48E5-92E5959E2D8A}"/>
              </a:ext>
            </a:extLst>
          </p:cNvPr>
          <p:cNvSpPr/>
          <p:nvPr/>
        </p:nvSpPr>
        <p:spPr>
          <a:xfrm>
            <a:off x="7269480" y="3044952"/>
            <a:ext cx="173736" cy="0"/>
          </a:xfrm>
          <a:prstGeom prst="ellipse">
            <a:avLst/>
          </a:prstGeom>
          <a:ln w="25400">
            <a:solidFill>
              <a:srgbClr val="F07D5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3B7A1B62-D865-DD30-4B62-A2A3F46B043E}"/>
              </a:ext>
            </a:extLst>
          </p:cNvPr>
          <p:cNvSpPr/>
          <p:nvPr/>
        </p:nvSpPr>
        <p:spPr>
          <a:xfrm>
            <a:off x="7479792" y="1828800"/>
            <a:ext cx="2084832" cy="25146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6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902021D-F88D-B0E7-EB82-671E501D98A6}"/>
              </a:ext>
            </a:extLst>
          </p:cNvPr>
          <p:cNvSpPr txBox="1"/>
          <p:nvPr/>
        </p:nvSpPr>
        <p:spPr>
          <a:xfrm>
            <a:off x="7662672" y="2029968"/>
            <a:ext cx="155448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100" b="1">
                <a:solidFill>
                  <a:srgbClr val="668277"/>
                </a:solidFill>
                <a:latin typeface="Aptos" panose="020B0004020202020204" pitchFamily="34" charset="0"/>
              </a:rPr>
              <a:t>04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13B1BF5-3C0A-0171-81EA-2E5A74AF024F}"/>
              </a:ext>
            </a:extLst>
          </p:cNvPr>
          <p:cNvSpPr txBox="1"/>
          <p:nvPr/>
        </p:nvSpPr>
        <p:spPr>
          <a:xfrm>
            <a:off x="7662672" y="2450592"/>
            <a:ext cx="169164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700" b="1">
                <a:solidFill>
                  <a:srgbClr val="18211F"/>
                </a:solidFill>
                <a:latin typeface="Aptos" panose="020B0004020202020204" pitchFamily="34" charset="0"/>
              </a:rPr>
              <a:t>Assess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50E878D-816C-520B-6CD9-AF463BD8DC07}"/>
              </a:ext>
            </a:extLst>
          </p:cNvPr>
          <p:cNvSpPr txBox="1"/>
          <p:nvPr/>
        </p:nvSpPr>
        <p:spPr>
          <a:xfrm>
            <a:off x="7662672" y="2971800"/>
            <a:ext cx="1691640" cy="5078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45534D"/>
                </a:solidFill>
                <a:latin typeface="Aptos" panose="020B0004020202020204" pitchFamily="34" charset="0"/>
              </a:rPr>
              <a:t>Apply risk rules to access, paths, and activity evidence.</a:t>
            </a:r>
            <a:endParaRPr lang="en-IN" sz="1100">
              <a:solidFill>
                <a:srgbClr val="45534D"/>
              </a:solidFill>
              <a:latin typeface="Aptos" panose="020B0004020202020204" pitchFamily="34" charset="0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AE13DAF2-2757-D323-6A8E-E419DFA50513}"/>
              </a:ext>
            </a:extLst>
          </p:cNvPr>
          <p:cNvSpPr/>
          <p:nvPr/>
        </p:nvSpPr>
        <p:spPr>
          <a:xfrm>
            <a:off x="9573768" y="3044952"/>
            <a:ext cx="173736" cy="0"/>
          </a:xfrm>
          <a:prstGeom prst="ellipse">
            <a:avLst/>
          </a:prstGeom>
          <a:ln w="25400">
            <a:solidFill>
              <a:srgbClr val="F07D5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B24F9679-B406-BCA2-6FDD-F93813657B10}"/>
              </a:ext>
            </a:extLst>
          </p:cNvPr>
          <p:cNvSpPr/>
          <p:nvPr/>
        </p:nvSpPr>
        <p:spPr>
          <a:xfrm>
            <a:off x="9784080" y="1828800"/>
            <a:ext cx="1828800" cy="25146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6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F9EAF0C-E669-47EA-2884-6A13196EE2C3}"/>
              </a:ext>
            </a:extLst>
          </p:cNvPr>
          <p:cNvSpPr txBox="1"/>
          <p:nvPr/>
        </p:nvSpPr>
        <p:spPr>
          <a:xfrm>
            <a:off x="9966960" y="2029968"/>
            <a:ext cx="155448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100" b="1">
                <a:solidFill>
                  <a:srgbClr val="668277"/>
                </a:solidFill>
                <a:latin typeface="Aptos" panose="020B0004020202020204" pitchFamily="34" charset="0"/>
              </a:rPr>
              <a:t>05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8DAA30C-3BBC-961E-C711-07AB9D1A8359}"/>
              </a:ext>
            </a:extLst>
          </p:cNvPr>
          <p:cNvSpPr txBox="1"/>
          <p:nvPr/>
        </p:nvSpPr>
        <p:spPr>
          <a:xfrm>
            <a:off x="9966960" y="2450592"/>
            <a:ext cx="146304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700" b="1">
                <a:solidFill>
                  <a:srgbClr val="18211F"/>
                </a:solidFill>
                <a:latin typeface="Aptos" panose="020B0004020202020204" pitchFamily="34" charset="0"/>
              </a:rPr>
              <a:t>Explain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DA9E1D8-50D0-63A3-D0F3-A4E376CA210C}"/>
              </a:ext>
            </a:extLst>
          </p:cNvPr>
          <p:cNvSpPr txBox="1"/>
          <p:nvPr/>
        </p:nvSpPr>
        <p:spPr>
          <a:xfrm>
            <a:off x="9966960" y="2971800"/>
            <a:ext cx="141732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>
                <a:solidFill>
                  <a:srgbClr val="45534D"/>
                </a:solidFill>
                <a:latin typeface="Aptos" panose="020B0004020202020204" pitchFamily="34" charset="0"/>
              </a:rPr>
              <a:t>Persist, filter, review, and export findings.</a:t>
            </a:r>
            <a:endParaRPr lang="en-IN" sz="1100">
              <a:solidFill>
                <a:srgbClr val="45534D"/>
              </a:solidFill>
              <a:latin typeface="Aptos" panose="020B0004020202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832B800-A24C-DAED-2EA1-D9AF2805F4D4}"/>
              </a:ext>
            </a:extLst>
          </p:cNvPr>
          <p:cNvSpPr txBox="1"/>
          <p:nvPr/>
        </p:nvSpPr>
        <p:spPr>
          <a:xfrm>
            <a:off x="658368" y="4846320"/>
            <a:ext cx="1069848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45534D"/>
                </a:solidFill>
                <a:latin typeface="Aptos" panose="020B0004020202020204" pitchFamily="34" charset="0"/>
              </a:rPr>
              <a:t>Boundary: provider adapters collect; normalization preserves meaning; analysis engines do not call cloud APIs.</a:t>
            </a:r>
            <a:endParaRPr lang="en-IN" sz="1500" b="1">
              <a:solidFill>
                <a:srgbClr val="45534D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96743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77405C7-4C88-3036-D44E-B96A934A493B}"/>
              </a:ext>
            </a:extLst>
          </p:cNvPr>
          <p:cNvSpPr txBox="1"/>
          <p:nvPr/>
        </p:nvSpPr>
        <p:spPr>
          <a:xfrm>
            <a:off x="566928" y="347472"/>
            <a:ext cx="1078992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000" b="1">
                <a:solidFill>
                  <a:srgbClr val="668277"/>
                </a:solidFill>
                <a:latin typeface="Aptos" panose="020B0004020202020204" pitchFamily="34" charset="0"/>
              </a:rPr>
              <a:t>03 / ARCHITECTURE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E4A757-CD26-4781-BB93-31D153E027C4}"/>
              </a:ext>
            </a:extLst>
          </p:cNvPr>
          <p:cNvSpPr txBox="1"/>
          <p:nvPr/>
        </p:nvSpPr>
        <p:spPr>
          <a:xfrm>
            <a:off x="566928" y="658368"/>
            <a:ext cx="109728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700" b="1">
                <a:solidFill>
                  <a:srgbClr val="18211F"/>
                </a:solidFill>
                <a:latin typeface="Georgia" panose="02040502050405020303" pitchFamily="18" charset="0"/>
              </a:rPr>
              <a:t>Modular architecture keeps cloud semantics out of the core</a:t>
            </a:r>
            <a:endParaRPr lang="en-IN" sz="2700" b="1">
              <a:solidFill>
                <a:srgbClr val="18211F"/>
              </a:solidFill>
              <a:latin typeface="Georgia" panose="02040502050405020303" pitchFamily="18" charset="0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F6F4518-F5CC-6763-A24B-DF6040DB029D}"/>
              </a:ext>
            </a:extLst>
          </p:cNvPr>
          <p:cNvSpPr/>
          <p:nvPr/>
        </p:nvSpPr>
        <p:spPr>
          <a:xfrm>
            <a:off x="566928" y="6382512"/>
            <a:ext cx="11064240" cy="0"/>
          </a:xfrm>
          <a:prstGeom prst="ellipse">
            <a:avLst/>
          </a:prstGeom>
          <a:ln w="10160">
            <a:solidFill>
              <a:srgbClr val="D6DD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111280-3729-44EF-B2EF-C08E3A644B09}"/>
              </a:ext>
            </a:extLst>
          </p:cNvPr>
          <p:cNvSpPr txBox="1"/>
          <p:nvPr/>
        </p:nvSpPr>
        <p:spPr>
          <a:xfrm>
            <a:off x="566928" y="6464808"/>
            <a:ext cx="996696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800">
                <a:solidFill>
                  <a:srgbClr val="64716B"/>
                </a:solidFill>
                <a:latin typeface="Aptos" panose="020B0004020202020204" pitchFamily="34" charset="0"/>
              </a:rPr>
              <a:t>Sources: docs/architecture/architecture.md; CloudEntitle.sln; src/CloudEntitle.Desktop/CloudEntitle.Desktop.csproj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36B5C6-A6ED-9384-1723-E800AA1BC169}"/>
              </a:ext>
            </a:extLst>
          </p:cNvPr>
          <p:cNvSpPr txBox="1"/>
          <p:nvPr/>
        </p:nvSpPr>
        <p:spPr>
          <a:xfrm>
            <a:off x="10972800" y="6437376"/>
            <a:ext cx="64008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900" b="1">
                <a:solidFill>
                  <a:srgbClr val="64716B"/>
                </a:solidFill>
                <a:latin typeface="Aptos" panose="020B0004020202020204" pitchFamily="34" charset="0"/>
              </a:rPr>
              <a:t>04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38D16CD-D727-26C2-3F9F-9032D0D7D538}"/>
              </a:ext>
            </a:extLst>
          </p:cNvPr>
          <p:cNvSpPr/>
          <p:nvPr/>
        </p:nvSpPr>
        <p:spPr>
          <a:xfrm>
            <a:off x="685800" y="1600200"/>
            <a:ext cx="3127248" cy="31546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6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5E61737-5636-6E69-B116-2FEC2C19AE06}"/>
              </a:ext>
            </a:extLst>
          </p:cNvPr>
          <p:cNvSpPr/>
          <p:nvPr/>
        </p:nvSpPr>
        <p:spPr>
          <a:xfrm>
            <a:off x="685800" y="1600200"/>
            <a:ext cx="3127248" cy="118872"/>
          </a:xfrm>
          <a:prstGeom prst="rect">
            <a:avLst/>
          </a:prstGeom>
          <a:solidFill>
            <a:srgbClr val="72B7A1"/>
          </a:solidFill>
          <a:ln w="8890">
            <a:solidFill>
              <a:srgbClr val="72B7A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10581C-88D8-9333-A7B6-90B5BFEE7EAD}"/>
              </a:ext>
            </a:extLst>
          </p:cNvPr>
          <p:cNvSpPr txBox="1"/>
          <p:nvPr/>
        </p:nvSpPr>
        <p:spPr>
          <a:xfrm>
            <a:off x="932688" y="1947672"/>
            <a:ext cx="260604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000" b="1">
                <a:solidFill>
                  <a:srgbClr val="668277"/>
                </a:solidFill>
                <a:latin typeface="Aptos" panose="020B0004020202020204" pitchFamily="34" charset="0"/>
              </a:rPr>
              <a:t>PROVIDER EDGE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A651BF-8B79-7F37-02AD-F453D9F8F7E8}"/>
              </a:ext>
            </a:extLst>
          </p:cNvPr>
          <p:cNvSpPr txBox="1"/>
          <p:nvPr/>
        </p:nvSpPr>
        <p:spPr>
          <a:xfrm>
            <a:off x="932688" y="2487168"/>
            <a:ext cx="2615184" cy="7386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600" b="1">
                <a:solidFill>
                  <a:srgbClr val="18211F"/>
                </a:solidFill>
                <a:latin typeface="Aptos" panose="020B0004020202020204" pitchFamily="34" charset="0"/>
              </a:rPr>
              <a:t>Cloud.Azure\nCloud.Aws\nCloud.Gcp\nCLI-backed discovery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0C9ABC1-16DF-FE66-A0DA-69BD1BD26BB0}"/>
              </a:ext>
            </a:extLst>
          </p:cNvPr>
          <p:cNvSpPr/>
          <p:nvPr/>
        </p:nvSpPr>
        <p:spPr>
          <a:xfrm>
            <a:off x="4343400" y="1600200"/>
            <a:ext cx="3127248" cy="31546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6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693EEB1-68B4-8D26-6AD9-CE78ED105FA9}"/>
              </a:ext>
            </a:extLst>
          </p:cNvPr>
          <p:cNvSpPr/>
          <p:nvPr/>
        </p:nvSpPr>
        <p:spPr>
          <a:xfrm>
            <a:off x="4343400" y="1600200"/>
            <a:ext cx="3127248" cy="118872"/>
          </a:xfrm>
          <a:prstGeom prst="rect">
            <a:avLst/>
          </a:prstGeom>
          <a:solidFill>
            <a:srgbClr val="D8EF72"/>
          </a:solidFill>
          <a:ln w="8890">
            <a:solidFill>
              <a:srgbClr val="D8EF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B5BBD22-DE4C-C548-96E5-BB9173300D61}"/>
              </a:ext>
            </a:extLst>
          </p:cNvPr>
          <p:cNvSpPr txBox="1"/>
          <p:nvPr/>
        </p:nvSpPr>
        <p:spPr>
          <a:xfrm>
            <a:off x="4590288" y="1947672"/>
            <a:ext cx="260604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000" b="1">
                <a:solidFill>
                  <a:srgbClr val="668277"/>
                </a:solidFill>
                <a:latin typeface="Aptos" panose="020B0004020202020204" pitchFamily="34" charset="0"/>
              </a:rPr>
              <a:t>SHARED ANALYSIS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39CDE66-0B66-DB60-9C24-0A6FD07270E5}"/>
              </a:ext>
            </a:extLst>
          </p:cNvPr>
          <p:cNvSpPr txBox="1"/>
          <p:nvPr/>
        </p:nvSpPr>
        <p:spPr>
          <a:xfrm>
            <a:off x="4590288" y="2487168"/>
            <a:ext cx="2615184" cy="98488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 b="1">
                <a:solidFill>
                  <a:srgbClr val="18211F"/>
                </a:solidFill>
                <a:latin typeface="Aptos" panose="020B0004020202020204" pitchFamily="34" charset="0"/>
              </a:rPr>
              <a:t>Domain + Application\nNormalization\nEffective Access\nAccess Path + Risk</a:t>
            </a:r>
            <a:endParaRPr lang="en-IN" sz="1600" b="1">
              <a:solidFill>
                <a:srgbClr val="18211F"/>
              </a:solidFill>
              <a:latin typeface="Aptos" panose="020B0004020202020204" pitchFamily="3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0D54C50-16DF-CA43-5210-DEFE952A9B60}"/>
              </a:ext>
            </a:extLst>
          </p:cNvPr>
          <p:cNvSpPr/>
          <p:nvPr/>
        </p:nvSpPr>
        <p:spPr>
          <a:xfrm>
            <a:off x="8001000" y="1600200"/>
            <a:ext cx="3127248" cy="31546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6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9BC40BC-87F5-EB31-E0D3-A2F6D9B13969}"/>
              </a:ext>
            </a:extLst>
          </p:cNvPr>
          <p:cNvSpPr/>
          <p:nvPr/>
        </p:nvSpPr>
        <p:spPr>
          <a:xfrm>
            <a:off x="8001000" y="1600200"/>
            <a:ext cx="3127248" cy="118872"/>
          </a:xfrm>
          <a:prstGeom prst="rect">
            <a:avLst/>
          </a:prstGeom>
          <a:solidFill>
            <a:srgbClr val="F07D5D"/>
          </a:solidFill>
          <a:ln w="8890">
            <a:solidFill>
              <a:srgbClr val="F07D5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1F30289-2C6B-56E7-88D1-2EBED22918E0}"/>
              </a:ext>
            </a:extLst>
          </p:cNvPr>
          <p:cNvSpPr txBox="1"/>
          <p:nvPr/>
        </p:nvSpPr>
        <p:spPr>
          <a:xfrm>
            <a:off x="8247888" y="1947672"/>
            <a:ext cx="260604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000" b="1">
                <a:solidFill>
                  <a:srgbClr val="668277"/>
                </a:solidFill>
                <a:latin typeface="Aptos" panose="020B0004020202020204" pitchFamily="34" charset="0"/>
              </a:rPr>
              <a:t>LOCAL PRODUCT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3D03FA3-4862-D13E-705E-B24FD25B4597}"/>
              </a:ext>
            </a:extLst>
          </p:cNvPr>
          <p:cNvSpPr txBox="1"/>
          <p:nvPr/>
        </p:nvSpPr>
        <p:spPr>
          <a:xfrm>
            <a:off x="8247888" y="2487168"/>
            <a:ext cx="2615184" cy="123110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600" b="1">
                <a:solidFill>
                  <a:srgbClr val="18211F"/>
                </a:solidFill>
                <a:latin typeface="Aptos" panose="020B0004020202020204" pitchFamily="34" charset="0"/>
              </a:rPr>
              <a:t>WPF / MVVM desktop\nSQLite + EF Core\nReporting + Licensing\nWindows-first workflow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866DFAF-48F8-AEF7-794A-C9CCADA26675}"/>
              </a:ext>
            </a:extLst>
          </p:cNvPr>
          <p:cNvSpPr/>
          <p:nvPr/>
        </p:nvSpPr>
        <p:spPr>
          <a:xfrm>
            <a:off x="3840480" y="3163824"/>
            <a:ext cx="411480" cy="0"/>
          </a:xfrm>
          <a:prstGeom prst="ellipse">
            <a:avLst/>
          </a:prstGeom>
          <a:ln w="25400">
            <a:solidFill>
              <a:srgbClr val="66827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38143B7-7A14-2FAC-FCBA-52C33E26F601}"/>
              </a:ext>
            </a:extLst>
          </p:cNvPr>
          <p:cNvSpPr/>
          <p:nvPr/>
        </p:nvSpPr>
        <p:spPr>
          <a:xfrm>
            <a:off x="7498080" y="3163824"/>
            <a:ext cx="411481" cy="0"/>
          </a:xfrm>
          <a:prstGeom prst="ellipse">
            <a:avLst/>
          </a:prstGeom>
          <a:ln w="25400">
            <a:solidFill>
              <a:srgbClr val="66827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A544B27-461D-D6DD-13B5-19A4A554DDA5}"/>
              </a:ext>
            </a:extLst>
          </p:cNvPr>
          <p:cNvSpPr txBox="1"/>
          <p:nvPr/>
        </p:nvSpPr>
        <p:spPr>
          <a:xfrm>
            <a:off x="713232" y="5193792"/>
            <a:ext cx="1060704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>
                <a:solidFill>
                  <a:srgbClr val="45534D"/>
                </a:solidFill>
                <a:latin typeface="Aptos" panose="020B0004020202020204" pitchFamily="34" charset="0"/>
              </a:rPr>
              <a:t>24 source projects span analysis, governance, compliance, monitoring, reporting, and integration; the desktop app composes the user-facing workflow.</a:t>
            </a:r>
            <a:endParaRPr lang="en-IN" sz="1300">
              <a:solidFill>
                <a:srgbClr val="45534D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9167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5B2149F-117E-FAE4-32BA-F46DB434DD93}"/>
              </a:ext>
            </a:extLst>
          </p:cNvPr>
          <p:cNvSpPr txBox="1"/>
          <p:nvPr/>
        </p:nvSpPr>
        <p:spPr>
          <a:xfrm>
            <a:off x="566928" y="347472"/>
            <a:ext cx="1078992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000" b="1">
                <a:solidFill>
                  <a:srgbClr val="668277"/>
                </a:solidFill>
                <a:latin typeface="Aptos" panose="020B0004020202020204" pitchFamily="34" charset="0"/>
              </a:rPr>
              <a:t>04 / DECISION QUALITY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DCDC76-1AA7-6701-40A0-7A606B9DCE34}"/>
              </a:ext>
            </a:extLst>
          </p:cNvPr>
          <p:cNvSpPr txBox="1"/>
          <p:nvPr/>
        </p:nvSpPr>
        <p:spPr>
          <a:xfrm>
            <a:off x="566928" y="658368"/>
            <a:ext cx="109728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700" b="1">
                <a:solidFill>
                  <a:srgbClr val="18211F"/>
                </a:solidFill>
                <a:latin typeface="Georgia" panose="02040502050405020303" pitchFamily="18" charset="0"/>
              </a:rPr>
              <a:t>Trust comes from showing uncertainty, not hiding it</a:t>
            </a:r>
            <a:endParaRPr lang="en-IN" sz="2700" b="1">
              <a:solidFill>
                <a:srgbClr val="18211F"/>
              </a:solidFill>
              <a:latin typeface="Georgia" panose="02040502050405020303" pitchFamily="18" charset="0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56F3C44-CE04-2F3D-0849-E4513E6EA11B}"/>
              </a:ext>
            </a:extLst>
          </p:cNvPr>
          <p:cNvSpPr/>
          <p:nvPr/>
        </p:nvSpPr>
        <p:spPr>
          <a:xfrm>
            <a:off x="566928" y="6382512"/>
            <a:ext cx="11064240" cy="0"/>
          </a:xfrm>
          <a:prstGeom prst="ellipse">
            <a:avLst/>
          </a:prstGeom>
          <a:ln w="10160">
            <a:solidFill>
              <a:srgbClr val="D6DD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BB6947-5739-7248-F4B4-A88A358E1695}"/>
              </a:ext>
            </a:extLst>
          </p:cNvPr>
          <p:cNvSpPr txBox="1"/>
          <p:nvPr/>
        </p:nvSpPr>
        <p:spPr>
          <a:xfrm>
            <a:off x="566928" y="6464808"/>
            <a:ext cx="996696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00">
                <a:solidFill>
                  <a:srgbClr val="64716B"/>
                </a:solidFill>
                <a:latin typeface="Aptos" panose="020B0004020202020204" pitchFamily="34" charset="0"/>
              </a:rPr>
              <a:t>Sources: docs/architecture/effective-access-engine.md; docs/architecture/risk-engine.md</a:t>
            </a:r>
            <a:endParaRPr lang="en-IN" sz="800">
              <a:solidFill>
                <a:srgbClr val="64716B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220F99-13ED-BD3E-D5C0-0EF84ADECEA9}"/>
              </a:ext>
            </a:extLst>
          </p:cNvPr>
          <p:cNvSpPr txBox="1"/>
          <p:nvPr/>
        </p:nvSpPr>
        <p:spPr>
          <a:xfrm>
            <a:off x="10972800" y="6437376"/>
            <a:ext cx="64008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900" b="1">
                <a:solidFill>
                  <a:srgbClr val="64716B"/>
                </a:solidFill>
                <a:latin typeface="Aptos" panose="020B0004020202020204" pitchFamily="34" charset="0"/>
              </a:rPr>
              <a:t>05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5AFD3F-589D-695C-A1FE-7B08C3012A29}"/>
              </a:ext>
            </a:extLst>
          </p:cNvPr>
          <p:cNvSpPr txBox="1"/>
          <p:nvPr/>
        </p:nvSpPr>
        <p:spPr>
          <a:xfrm>
            <a:off x="658368" y="1389888"/>
            <a:ext cx="475488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000" b="1">
                <a:solidFill>
                  <a:srgbClr val="668277"/>
                </a:solidFill>
                <a:latin typeface="Aptos" panose="020B0004020202020204" pitchFamily="34" charset="0"/>
              </a:rPr>
              <a:t>ACCESS DECISIONS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D36863D-C936-405A-7988-3750FBEEA7A1}"/>
              </a:ext>
            </a:extLst>
          </p:cNvPr>
          <p:cNvSpPr/>
          <p:nvPr/>
        </p:nvSpPr>
        <p:spPr>
          <a:xfrm>
            <a:off x="658368" y="1847088"/>
            <a:ext cx="1490472" cy="548640"/>
          </a:xfrm>
          <a:prstGeom prst="roundRect">
            <a:avLst/>
          </a:prstGeom>
          <a:solidFill>
            <a:srgbClr val="DDEEDB"/>
          </a:solidFill>
          <a:ln w="8890">
            <a:solidFill>
              <a:srgbClr val="DDEE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2A2EB1-C46F-000F-2BD5-401185788B6A}"/>
              </a:ext>
            </a:extLst>
          </p:cNvPr>
          <p:cNvSpPr txBox="1"/>
          <p:nvPr/>
        </p:nvSpPr>
        <p:spPr>
          <a:xfrm>
            <a:off x="749808" y="2002536"/>
            <a:ext cx="1316736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900" b="1">
                <a:solidFill>
                  <a:srgbClr val="18211F"/>
                </a:solidFill>
                <a:latin typeface="Aptos" panose="020B0004020202020204" pitchFamily="34" charset="0"/>
              </a:rPr>
              <a:t>ALLOW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AEB280B-F932-D84A-D310-664F159058F3}"/>
              </a:ext>
            </a:extLst>
          </p:cNvPr>
          <p:cNvSpPr/>
          <p:nvPr/>
        </p:nvSpPr>
        <p:spPr>
          <a:xfrm>
            <a:off x="2276856" y="1847088"/>
            <a:ext cx="1490472" cy="548640"/>
          </a:xfrm>
          <a:prstGeom prst="roundRect">
            <a:avLst/>
          </a:prstGeom>
          <a:solidFill>
            <a:srgbClr val="F7D9D0"/>
          </a:solidFill>
          <a:ln w="8890">
            <a:solidFill>
              <a:srgbClr val="F7D9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294D92-2C8B-A222-3CF4-829CAABBE32E}"/>
              </a:ext>
            </a:extLst>
          </p:cNvPr>
          <p:cNvSpPr txBox="1"/>
          <p:nvPr/>
        </p:nvSpPr>
        <p:spPr>
          <a:xfrm>
            <a:off x="2368296" y="2002536"/>
            <a:ext cx="1316736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900" b="1">
                <a:solidFill>
                  <a:srgbClr val="18211F"/>
                </a:solidFill>
                <a:latin typeface="Aptos" panose="020B0004020202020204" pitchFamily="34" charset="0"/>
              </a:rPr>
              <a:t>DENY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3279BC2-B3D1-ACC5-5408-1808A23443BF}"/>
              </a:ext>
            </a:extLst>
          </p:cNvPr>
          <p:cNvSpPr/>
          <p:nvPr/>
        </p:nvSpPr>
        <p:spPr>
          <a:xfrm>
            <a:off x="3895344" y="1847088"/>
            <a:ext cx="1490472" cy="548640"/>
          </a:xfrm>
          <a:prstGeom prst="roundRect">
            <a:avLst/>
          </a:prstGeom>
          <a:solidFill>
            <a:srgbClr val="F5E8BC"/>
          </a:solidFill>
          <a:ln w="8890">
            <a:solidFill>
              <a:srgbClr val="F5E8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2E86EAE-D450-906C-E774-ED9EA469B652}"/>
              </a:ext>
            </a:extLst>
          </p:cNvPr>
          <p:cNvSpPr txBox="1"/>
          <p:nvPr/>
        </p:nvSpPr>
        <p:spPr>
          <a:xfrm>
            <a:off x="3986784" y="2002536"/>
            <a:ext cx="1316736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900" b="1">
                <a:solidFill>
                  <a:srgbClr val="18211F"/>
                </a:solidFill>
                <a:latin typeface="Aptos" panose="020B0004020202020204" pitchFamily="34" charset="0"/>
              </a:rPr>
              <a:t>CONDITIONAL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D6A2F9E-22CF-3673-10A0-6AF649BE7321}"/>
              </a:ext>
            </a:extLst>
          </p:cNvPr>
          <p:cNvSpPr/>
          <p:nvPr/>
        </p:nvSpPr>
        <p:spPr>
          <a:xfrm>
            <a:off x="5513832" y="1847088"/>
            <a:ext cx="1490472" cy="548640"/>
          </a:xfrm>
          <a:prstGeom prst="roundRect">
            <a:avLst/>
          </a:prstGeom>
          <a:solidFill>
            <a:srgbClr val="E4E8E2"/>
          </a:solidFill>
          <a:ln w="8890">
            <a:solidFill>
              <a:srgbClr val="E4E8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1D62C07-2D3C-4D5D-EAA2-8CEE4DF91DBD}"/>
              </a:ext>
            </a:extLst>
          </p:cNvPr>
          <p:cNvSpPr txBox="1"/>
          <p:nvPr/>
        </p:nvSpPr>
        <p:spPr>
          <a:xfrm>
            <a:off x="5605272" y="2002536"/>
            <a:ext cx="1316736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900" b="1">
                <a:solidFill>
                  <a:srgbClr val="18211F"/>
                </a:solidFill>
                <a:latin typeface="Aptos" panose="020B0004020202020204" pitchFamily="34" charset="0"/>
              </a:rPr>
              <a:t>UNKNOWN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28866AA-641A-385F-DB43-E60EE5F98DC1}"/>
              </a:ext>
            </a:extLst>
          </p:cNvPr>
          <p:cNvSpPr/>
          <p:nvPr/>
        </p:nvSpPr>
        <p:spPr>
          <a:xfrm>
            <a:off x="7132320" y="1847088"/>
            <a:ext cx="1490472" cy="548640"/>
          </a:xfrm>
          <a:prstGeom prst="roundRect">
            <a:avLst/>
          </a:prstGeom>
          <a:solidFill>
            <a:srgbClr val="E7DFEA"/>
          </a:solidFill>
          <a:ln w="8890">
            <a:solidFill>
              <a:srgbClr val="E7DF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D72BCCD-9A65-5043-D0AA-D4E24A62BF6F}"/>
              </a:ext>
            </a:extLst>
          </p:cNvPr>
          <p:cNvSpPr txBox="1"/>
          <p:nvPr/>
        </p:nvSpPr>
        <p:spPr>
          <a:xfrm>
            <a:off x="7223760" y="2002536"/>
            <a:ext cx="1316736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900" b="1">
                <a:solidFill>
                  <a:srgbClr val="18211F"/>
                </a:solidFill>
                <a:latin typeface="Aptos" panose="020B0004020202020204" pitchFamily="34" charset="0"/>
              </a:rPr>
              <a:t>UNSUPPORTED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27D9B2E-3690-38D3-9D42-753565411C3B}"/>
              </a:ext>
            </a:extLst>
          </p:cNvPr>
          <p:cNvSpPr/>
          <p:nvPr/>
        </p:nvSpPr>
        <p:spPr>
          <a:xfrm>
            <a:off x="658368" y="2880360"/>
            <a:ext cx="3429000" cy="15544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6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F31D5C8-64F7-8E57-0B55-F0732598A950}"/>
              </a:ext>
            </a:extLst>
          </p:cNvPr>
          <p:cNvSpPr/>
          <p:nvPr/>
        </p:nvSpPr>
        <p:spPr>
          <a:xfrm>
            <a:off x="822960" y="3081528"/>
            <a:ext cx="54864" cy="1152144"/>
          </a:xfrm>
          <a:prstGeom prst="rect">
            <a:avLst/>
          </a:prstGeom>
          <a:solidFill>
            <a:srgbClr val="72B7A1"/>
          </a:solidFill>
          <a:ln w="8890">
            <a:solidFill>
              <a:srgbClr val="72B7A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2D383E7-3A18-0B8F-7DC8-ECD52BA758DA}"/>
              </a:ext>
            </a:extLst>
          </p:cNvPr>
          <p:cNvSpPr txBox="1"/>
          <p:nvPr/>
        </p:nvSpPr>
        <p:spPr>
          <a:xfrm>
            <a:off x="1024128" y="3090672"/>
            <a:ext cx="2898648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500" b="1">
                <a:solidFill>
                  <a:srgbClr val="18211F"/>
                </a:solidFill>
                <a:latin typeface="Aptos" panose="020B0004020202020204" pitchFamily="34" charset="0"/>
              </a:rPr>
              <a:t>No false Allow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8DE0063-31FD-B60A-8A7F-E3863F183B2A}"/>
              </a:ext>
            </a:extLst>
          </p:cNvPr>
          <p:cNvSpPr txBox="1"/>
          <p:nvPr/>
        </p:nvSpPr>
        <p:spPr>
          <a:xfrm>
            <a:off x="1024128" y="3538728"/>
            <a:ext cx="2898648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>
                <a:solidFill>
                  <a:srgbClr val="45534D"/>
                </a:solidFill>
                <a:latin typeface="Aptos" panose="020B0004020202020204" pitchFamily="34" charset="0"/>
              </a:rPr>
              <a:t>Missing runtime context for a condition remains Conditional, never Allow.</a:t>
            </a:r>
            <a:endParaRPr lang="en-IN" sz="1200">
              <a:solidFill>
                <a:srgbClr val="45534D"/>
              </a:solidFill>
              <a:latin typeface="Aptos" panose="020B0004020202020204" pitchFamily="34" charset="0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92D872C9-EC55-5C61-2664-18EF217E4B62}"/>
              </a:ext>
            </a:extLst>
          </p:cNvPr>
          <p:cNvSpPr/>
          <p:nvPr/>
        </p:nvSpPr>
        <p:spPr>
          <a:xfrm>
            <a:off x="4389120" y="2880360"/>
            <a:ext cx="3429000" cy="15544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6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94C9EFF-A91C-B7DD-EC6E-587012A9F726}"/>
              </a:ext>
            </a:extLst>
          </p:cNvPr>
          <p:cNvSpPr/>
          <p:nvPr/>
        </p:nvSpPr>
        <p:spPr>
          <a:xfrm>
            <a:off x="4553712" y="3081528"/>
            <a:ext cx="54864" cy="1152144"/>
          </a:xfrm>
          <a:prstGeom prst="rect">
            <a:avLst/>
          </a:prstGeom>
          <a:solidFill>
            <a:srgbClr val="D8EF72"/>
          </a:solidFill>
          <a:ln w="8890">
            <a:solidFill>
              <a:srgbClr val="D8EF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147E251-A1F0-D611-B4E1-946741B20732}"/>
              </a:ext>
            </a:extLst>
          </p:cNvPr>
          <p:cNvSpPr txBox="1"/>
          <p:nvPr/>
        </p:nvSpPr>
        <p:spPr>
          <a:xfrm>
            <a:off x="4754880" y="3090672"/>
            <a:ext cx="2898648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500" b="1">
                <a:solidFill>
                  <a:srgbClr val="18211F"/>
                </a:solidFill>
                <a:latin typeface="Aptos" panose="020B0004020202020204" pitchFamily="34" charset="0"/>
              </a:rPr>
              <a:t>No automatic blame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8397B0A-33D3-8A98-260A-DDF068DB42E1}"/>
              </a:ext>
            </a:extLst>
          </p:cNvPr>
          <p:cNvSpPr txBox="1"/>
          <p:nvPr/>
        </p:nvSpPr>
        <p:spPr>
          <a:xfrm>
            <a:off x="4754880" y="3538728"/>
            <a:ext cx="2898648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>
                <a:solidFill>
                  <a:srgbClr val="45534D"/>
                </a:solidFill>
                <a:latin typeface="Aptos" panose="020B0004020202020204" pitchFamily="34" charset="0"/>
              </a:rPr>
              <a:t>Powerful access, service identities, and missing activity are not automatically called risky.</a:t>
            </a:r>
            <a:endParaRPr lang="en-IN" sz="1200">
              <a:solidFill>
                <a:srgbClr val="45534D"/>
              </a:solidFill>
              <a:latin typeface="Aptos" panose="020B0004020202020204" pitchFamily="34" charset="0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27B2746C-BE89-3AE3-AAE5-4BA4DE741924}"/>
              </a:ext>
            </a:extLst>
          </p:cNvPr>
          <p:cNvSpPr/>
          <p:nvPr/>
        </p:nvSpPr>
        <p:spPr>
          <a:xfrm>
            <a:off x="8119872" y="2880360"/>
            <a:ext cx="3429000" cy="15544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6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88B479B-BB14-A1BB-DA44-BFB44A13AA16}"/>
              </a:ext>
            </a:extLst>
          </p:cNvPr>
          <p:cNvSpPr/>
          <p:nvPr/>
        </p:nvSpPr>
        <p:spPr>
          <a:xfrm>
            <a:off x="8284464" y="3081528"/>
            <a:ext cx="54864" cy="1152144"/>
          </a:xfrm>
          <a:prstGeom prst="rect">
            <a:avLst/>
          </a:prstGeom>
          <a:solidFill>
            <a:srgbClr val="F07D5D"/>
          </a:solidFill>
          <a:ln w="8890">
            <a:solidFill>
              <a:srgbClr val="F07D5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36C9172-1292-53C4-74FA-69B80181B28B}"/>
              </a:ext>
            </a:extLst>
          </p:cNvPr>
          <p:cNvSpPr txBox="1"/>
          <p:nvPr/>
        </p:nvSpPr>
        <p:spPr>
          <a:xfrm>
            <a:off x="8485632" y="3090672"/>
            <a:ext cx="2898648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500" b="1">
                <a:solidFill>
                  <a:srgbClr val="18211F"/>
                </a:solidFill>
                <a:latin typeface="Aptos" panose="020B0004020202020204" pitchFamily="34" charset="0"/>
              </a:rPr>
              <a:t>Evidence stays attached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9C2196C-93DF-6BB0-9E88-E487E5411594}"/>
              </a:ext>
            </a:extLst>
          </p:cNvPr>
          <p:cNvSpPr txBox="1"/>
          <p:nvPr/>
        </p:nvSpPr>
        <p:spPr>
          <a:xfrm>
            <a:off x="8485632" y="3538728"/>
            <a:ext cx="2898648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>
                <a:solidFill>
                  <a:srgbClr val="45534D"/>
                </a:solidFill>
                <a:latin typeface="Aptos" panose="020B0004020202020204" pitchFamily="34" charset="0"/>
              </a:rPr>
              <a:t>Findings reference provider evidence, affected entities, rule, and lifecycle state.</a:t>
            </a:r>
            <a:endParaRPr lang="en-IN" sz="1200">
              <a:solidFill>
                <a:srgbClr val="45534D"/>
              </a:solidFill>
              <a:latin typeface="Aptos" panose="020B0004020202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2F39DF6-558F-BCDD-4716-736EDE30C3D2}"/>
              </a:ext>
            </a:extLst>
          </p:cNvPr>
          <p:cNvSpPr txBox="1"/>
          <p:nvPr/>
        </p:nvSpPr>
        <p:spPr>
          <a:xfrm>
            <a:off x="685800" y="5074920"/>
            <a:ext cx="1060704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 b="1">
                <a:solidFill>
                  <a:srgbClr val="18211F"/>
                </a:solidFill>
                <a:latin typeface="Georgia" panose="02040502050405020303" pitchFamily="18" charset="0"/>
              </a:rPr>
              <a:t>The engine can say “not enough information yet.” That is a product feature.</a:t>
            </a:r>
            <a:endParaRPr lang="en-IN" sz="1700" b="1">
              <a:solidFill>
                <a:srgbClr val="18211F"/>
              </a:solidFill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99606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0109A46-7762-8DFF-CE79-97258ABC17A6}"/>
              </a:ext>
            </a:extLst>
          </p:cNvPr>
          <p:cNvSpPr txBox="1"/>
          <p:nvPr/>
        </p:nvSpPr>
        <p:spPr>
          <a:xfrm>
            <a:off x="566928" y="347472"/>
            <a:ext cx="1078992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000" b="1">
                <a:solidFill>
                  <a:srgbClr val="668277"/>
                </a:solidFill>
                <a:latin typeface="Aptos" panose="020B0004020202020204" pitchFamily="34" charset="0"/>
              </a:rPr>
              <a:t>05 / CURRENT DOCUMENTED IMPLEMENTATION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7A67EC-BCFF-E1AC-6A4A-BE9BC1557442}"/>
              </a:ext>
            </a:extLst>
          </p:cNvPr>
          <p:cNvSpPr txBox="1"/>
          <p:nvPr/>
        </p:nvSpPr>
        <p:spPr>
          <a:xfrm>
            <a:off x="566928" y="658368"/>
            <a:ext cx="109728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700" b="1">
                <a:solidFill>
                  <a:srgbClr val="18211F"/>
                </a:solidFill>
                <a:latin typeface="Georgia" panose="02040502050405020303" pitchFamily="18" charset="0"/>
              </a:rPr>
              <a:t>What the repository says works today</a:t>
            </a:r>
            <a:endParaRPr lang="en-IN" sz="2700" b="1">
              <a:solidFill>
                <a:srgbClr val="18211F"/>
              </a:solidFill>
              <a:latin typeface="Georgia" panose="02040502050405020303" pitchFamily="18" charset="0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3838534-E852-7301-29F4-5A9ACB79BA96}"/>
              </a:ext>
            </a:extLst>
          </p:cNvPr>
          <p:cNvSpPr/>
          <p:nvPr/>
        </p:nvSpPr>
        <p:spPr>
          <a:xfrm>
            <a:off x="566928" y="6382512"/>
            <a:ext cx="11064240" cy="0"/>
          </a:xfrm>
          <a:prstGeom prst="ellipse">
            <a:avLst/>
          </a:prstGeom>
          <a:ln w="10160">
            <a:solidFill>
              <a:srgbClr val="D6DD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EEB635-4E74-48E1-07C7-669AC7231E48}"/>
              </a:ext>
            </a:extLst>
          </p:cNvPr>
          <p:cNvSpPr txBox="1"/>
          <p:nvPr/>
        </p:nvSpPr>
        <p:spPr>
          <a:xfrm>
            <a:off x="566928" y="6464808"/>
            <a:ext cx="996696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00">
                <a:solidFill>
                  <a:srgbClr val="64716B"/>
                </a:solidFill>
                <a:latin typeface="Aptos" panose="020B0004020202020204" pitchFamily="34" charset="0"/>
              </a:rPr>
              <a:t>Sources: README.md; docs/cloud/provider-execution.md; docs/licensing/licensing.md</a:t>
            </a:r>
            <a:endParaRPr lang="en-IN" sz="800">
              <a:solidFill>
                <a:srgbClr val="64716B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F793FD-B2E6-910E-352C-76AAA0458C32}"/>
              </a:ext>
            </a:extLst>
          </p:cNvPr>
          <p:cNvSpPr txBox="1"/>
          <p:nvPr/>
        </p:nvSpPr>
        <p:spPr>
          <a:xfrm>
            <a:off x="10972800" y="6437376"/>
            <a:ext cx="64008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900" b="1">
                <a:solidFill>
                  <a:srgbClr val="64716B"/>
                </a:solidFill>
                <a:latin typeface="Aptos" panose="020B0004020202020204" pitchFamily="34" charset="0"/>
              </a:rPr>
              <a:t>06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DBDB09C-5B6E-BCA5-79AC-391B292C6041}"/>
              </a:ext>
            </a:extLst>
          </p:cNvPr>
          <p:cNvSpPr/>
          <p:nvPr/>
        </p:nvSpPr>
        <p:spPr>
          <a:xfrm>
            <a:off x="658368" y="1572768"/>
            <a:ext cx="5257800" cy="340156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6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D60DA6A-0E80-DB8C-BD6A-8BDE962D4271}"/>
              </a:ext>
            </a:extLst>
          </p:cNvPr>
          <p:cNvSpPr/>
          <p:nvPr/>
        </p:nvSpPr>
        <p:spPr>
          <a:xfrm>
            <a:off x="822960" y="1773936"/>
            <a:ext cx="54864" cy="2999232"/>
          </a:xfrm>
          <a:prstGeom prst="rect">
            <a:avLst/>
          </a:prstGeom>
          <a:solidFill>
            <a:srgbClr val="72B7A1"/>
          </a:solidFill>
          <a:ln w="8890">
            <a:solidFill>
              <a:srgbClr val="72B7A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B691A9-88FA-C411-9B18-5CC994A123DA}"/>
              </a:ext>
            </a:extLst>
          </p:cNvPr>
          <p:cNvSpPr txBox="1"/>
          <p:nvPr/>
        </p:nvSpPr>
        <p:spPr>
          <a:xfrm>
            <a:off x="1024128" y="1783080"/>
            <a:ext cx="4727448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18211F"/>
                </a:solidFill>
                <a:latin typeface="Aptos" panose="020B0004020202020204" pitchFamily="34" charset="0"/>
              </a:rPr>
              <a:t>In the documented desktop build</a:t>
            </a:r>
            <a:endParaRPr lang="en-IN" sz="1500" b="1">
              <a:solidFill>
                <a:srgbClr val="18211F"/>
              </a:solidFill>
              <a:latin typeface="Aptos" panose="020B00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215D53-527A-41E0-6C11-5253EE8C52B7}"/>
              </a:ext>
            </a:extLst>
          </p:cNvPr>
          <p:cNvSpPr txBox="1"/>
          <p:nvPr/>
        </p:nvSpPr>
        <p:spPr>
          <a:xfrm>
            <a:off x="1024128" y="2231136"/>
            <a:ext cx="4727448" cy="7386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>
                <a:solidFill>
                  <a:srgbClr val="45534D"/>
                </a:solidFill>
                <a:latin typeface="Aptos" panose="020B0004020202020204" pitchFamily="34" charset="0"/>
              </a:rPr>
              <a:t>WPF desktop shell; local SQLite inventory, rules, and findings; provider-filtered views; read-only CLI discovery for Azure, AWS, and GCP; Azure Entra identities and PIM schedules; JSON report export; seven-day local trial.</a:t>
            </a:r>
            <a:endParaRPr lang="en-IN" sz="1200">
              <a:solidFill>
                <a:srgbClr val="45534D"/>
              </a:solidFill>
              <a:latin typeface="Aptos" panose="020B0004020202020204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F631D17-907F-2C4F-BE8C-09258A09BC05}"/>
              </a:ext>
            </a:extLst>
          </p:cNvPr>
          <p:cNvSpPr/>
          <p:nvPr/>
        </p:nvSpPr>
        <p:spPr>
          <a:xfrm>
            <a:off x="6236208" y="1572768"/>
            <a:ext cx="5257800" cy="340156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6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2B6B72-2E49-4120-FF54-74FDE7FBD985}"/>
              </a:ext>
            </a:extLst>
          </p:cNvPr>
          <p:cNvSpPr/>
          <p:nvPr/>
        </p:nvSpPr>
        <p:spPr>
          <a:xfrm>
            <a:off x="6400800" y="1773936"/>
            <a:ext cx="54864" cy="2999232"/>
          </a:xfrm>
          <a:prstGeom prst="rect">
            <a:avLst/>
          </a:prstGeom>
          <a:solidFill>
            <a:srgbClr val="D8EF72"/>
          </a:solidFill>
          <a:ln w="8890">
            <a:solidFill>
              <a:srgbClr val="D8EF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522F9C6-F755-15C0-2D81-E9F23DFCDC6D}"/>
              </a:ext>
            </a:extLst>
          </p:cNvPr>
          <p:cNvSpPr txBox="1"/>
          <p:nvPr/>
        </p:nvSpPr>
        <p:spPr>
          <a:xfrm>
            <a:off x="6601968" y="1783080"/>
            <a:ext cx="4727448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18211F"/>
                </a:solidFill>
                <a:latin typeface="Aptos" panose="020B0004020202020204" pitchFamily="34" charset="0"/>
              </a:rPr>
              <a:t>Architecture already has dedicated modules</a:t>
            </a:r>
            <a:endParaRPr lang="en-IN" sz="1500" b="1">
              <a:solidFill>
                <a:srgbClr val="18211F"/>
              </a:solidFill>
              <a:latin typeface="Aptos" panose="020B00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D77D2EF-B281-E392-870D-BE777D01EDC7}"/>
              </a:ext>
            </a:extLst>
          </p:cNvPr>
          <p:cNvSpPr txBox="1"/>
          <p:nvPr/>
        </p:nvSpPr>
        <p:spPr>
          <a:xfrm>
            <a:off x="6601968" y="2231136"/>
            <a:ext cx="4727448" cy="7386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>
                <a:solidFill>
                  <a:srgbClr val="45534D"/>
                </a:solidFill>
                <a:latin typeface="Aptos" panose="020B0004020202020204" pitchFamily="34" charset="0"/>
              </a:rPr>
              <a:t>Normalization, Effective Access, Access Path, Risk Engine, Recommendations, Remediation Planning, Identity Governance, Compliance, Analytics, Monitoring, and more. Module presence is not the same as production validation.</a:t>
            </a:r>
            <a:endParaRPr lang="en-IN" sz="1200">
              <a:solidFill>
                <a:srgbClr val="45534D"/>
              </a:solidFill>
              <a:latin typeface="Aptos" panose="020B0004020202020204" pitchFamily="3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2E5C13A-F5ED-1967-5F07-2FC0B8D168AA}"/>
              </a:ext>
            </a:extLst>
          </p:cNvPr>
          <p:cNvSpPr/>
          <p:nvPr/>
        </p:nvSpPr>
        <p:spPr>
          <a:xfrm>
            <a:off x="658368" y="5303520"/>
            <a:ext cx="10881360" cy="530352"/>
          </a:xfrm>
          <a:prstGeom prst="roundRect">
            <a:avLst/>
          </a:prstGeom>
          <a:solidFill>
            <a:srgbClr val="F5E8BC"/>
          </a:solidFill>
          <a:ln w="8890">
            <a:solidFill>
              <a:srgbClr val="F5E8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4C15068-97B3-1B21-4900-CC315DEF518F}"/>
              </a:ext>
            </a:extLst>
          </p:cNvPr>
          <p:cNvSpPr txBox="1"/>
          <p:nvPr/>
        </p:nvSpPr>
        <p:spPr>
          <a:xfrm>
            <a:off x="868680" y="5440680"/>
            <a:ext cx="1033272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00" b="1">
                <a:solidFill>
                  <a:srgbClr val="493E27"/>
                </a:solidFill>
                <a:latin typeface="Aptos" panose="020B0004020202020204" pitchFamily="34" charset="0"/>
              </a:rPr>
              <a:t>Readiness caveat: the provider guide claims broader scan behavior than the README summary. Verify against a live tenant before making release claims.</a:t>
            </a:r>
            <a:endParaRPr lang="en-IN" sz="1100" b="1">
              <a:solidFill>
                <a:srgbClr val="493E27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81534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2D8031D-88B6-D209-65E9-053279BE2142}"/>
              </a:ext>
            </a:extLst>
          </p:cNvPr>
          <p:cNvSpPr txBox="1"/>
          <p:nvPr/>
        </p:nvSpPr>
        <p:spPr>
          <a:xfrm>
            <a:off x="566928" y="347472"/>
            <a:ext cx="1078992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000" b="1">
                <a:solidFill>
                  <a:srgbClr val="668277"/>
                </a:solidFill>
                <a:latin typeface="Aptos" panose="020B0004020202020204" pitchFamily="34" charset="0"/>
              </a:rPr>
              <a:t>06 / BOUNDARIES AND READINESS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C57C19-97B9-793C-0E21-B18D2A106B68}"/>
              </a:ext>
            </a:extLst>
          </p:cNvPr>
          <p:cNvSpPr txBox="1"/>
          <p:nvPr/>
        </p:nvSpPr>
        <p:spPr>
          <a:xfrm>
            <a:off x="566928" y="658368"/>
            <a:ext cx="109728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700" b="1">
                <a:solidFill>
                  <a:srgbClr val="18211F"/>
                </a:solidFill>
                <a:latin typeface="Georgia" panose="02040502050405020303" pitchFamily="18" charset="0"/>
              </a:rPr>
              <a:t>Clear safety boundaries; a few release gaps remain</a:t>
            </a:r>
            <a:endParaRPr lang="en-IN" sz="2700" b="1">
              <a:solidFill>
                <a:srgbClr val="18211F"/>
              </a:solidFill>
              <a:latin typeface="Georgia" panose="02040502050405020303" pitchFamily="18" charset="0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BFDDD8E-5FF3-C2F2-325D-746BA8FC2074}"/>
              </a:ext>
            </a:extLst>
          </p:cNvPr>
          <p:cNvSpPr/>
          <p:nvPr/>
        </p:nvSpPr>
        <p:spPr>
          <a:xfrm>
            <a:off x="566928" y="6382512"/>
            <a:ext cx="11064240" cy="0"/>
          </a:xfrm>
          <a:prstGeom prst="ellipse">
            <a:avLst/>
          </a:prstGeom>
          <a:ln w="10160">
            <a:solidFill>
              <a:srgbClr val="D6DD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2D0D6B-D65E-AB31-85E2-E38494333207}"/>
              </a:ext>
            </a:extLst>
          </p:cNvPr>
          <p:cNvSpPr txBox="1"/>
          <p:nvPr/>
        </p:nvSpPr>
        <p:spPr>
          <a:xfrm>
            <a:off x="566928" y="6464808"/>
            <a:ext cx="996696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800">
                <a:solidFill>
                  <a:srgbClr val="64716B"/>
                </a:solidFill>
                <a:latin typeface="Aptos" panose="020B0004020202020204" pitchFamily="34" charset="0"/>
              </a:rPr>
              <a:t>Sources: README.md; docs/licensing/licensing.md; docs/architecture/architecture.md; CloudEntitle.Desktop.csproj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0F7179-0AF3-6158-179C-26F6AF1363B4}"/>
              </a:ext>
            </a:extLst>
          </p:cNvPr>
          <p:cNvSpPr txBox="1"/>
          <p:nvPr/>
        </p:nvSpPr>
        <p:spPr>
          <a:xfrm>
            <a:off x="10972800" y="6437376"/>
            <a:ext cx="64008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900" b="1">
                <a:solidFill>
                  <a:srgbClr val="64716B"/>
                </a:solidFill>
                <a:latin typeface="Aptos" panose="020B0004020202020204" pitchFamily="34" charset="0"/>
              </a:rPr>
              <a:t>07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CAFA64E-9F52-2741-9349-CA48C41E86C4}"/>
              </a:ext>
            </a:extLst>
          </p:cNvPr>
          <p:cNvSpPr/>
          <p:nvPr/>
        </p:nvSpPr>
        <p:spPr>
          <a:xfrm>
            <a:off x="658368" y="1572768"/>
            <a:ext cx="5257800" cy="18288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6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DC84956-D95B-6081-5805-80E389918085}"/>
              </a:ext>
            </a:extLst>
          </p:cNvPr>
          <p:cNvSpPr/>
          <p:nvPr/>
        </p:nvSpPr>
        <p:spPr>
          <a:xfrm>
            <a:off x="822960" y="1773936"/>
            <a:ext cx="54864" cy="1426464"/>
          </a:xfrm>
          <a:prstGeom prst="rect">
            <a:avLst/>
          </a:prstGeom>
          <a:solidFill>
            <a:srgbClr val="72B7A1"/>
          </a:solidFill>
          <a:ln w="8890">
            <a:solidFill>
              <a:srgbClr val="72B7A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762DD0-8AF5-0E50-C0D1-5342AEA15C38}"/>
              </a:ext>
            </a:extLst>
          </p:cNvPr>
          <p:cNvSpPr txBox="1"/>
          <p:nvPr/>
        </p:nvSpPr>
        <p:spPr>
          <a:xfrm>
            <a:off x="1024128" y="1783080"/>
            <a:ext cx="4727448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500" b="1">
                <a:solidFill>
                  <a:srgbClr val="18211F"/>
                </a:solidFill>
                <a:latin typeface="Aptos" panose="020B0004020202020204" pitchFamily="34" charset="0"/>
              </a:rPr>
              <a:t>Safety posture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076E1F5-A731-439E-DF1E-4DB054ADF349}"/>
              </a:ext>
            </a:extLst>
          </p:cNvPr>
          <p:cNvSpPr txBox="1"/>
          <p:nvPr/>
        </p:nvSpPr>
        <p:spPr>
          <a:xfrm>
            <a:off x="1024128" y="2231136"/>
            <a:ext cx="4727448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>
                <a:solidFill>
                  <a:srgbClr val="45534D"/>
                </a:solidFill>
                <a:latin typeface="Aptos" panose="020B0004020202020204" pitchFamily="34" charset="0"/>
              </a:rPr>
              <a:t>Current provider scans are read-only. Credentials are not persisted in the domain model. Missing or unauthenticated CLIs should be reported rather than silently treated as empty inventory.</a:t>
            </a:r>
            <a:endParaRPr lang="en-IN" sz="1200">
              <a:solidFill>
                <a:srgbClr val="45534D"/>
              </a:solidFill>
              <a:latin typeface="Aptos" panose="020B0004020202020204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CE8660D-AE72-D2FA-66DD-F711ED621A05}"/>
              </a:ext>
            </a:extLst>
          </p:cNvPr>
          <p:cNvSpPr/>
          <p:nvPr/>
        </p:nvSpPr>
        <p:spPr>
          <a:xfrm>
            <a:off x="6236208" y="1572768"/>
            <a:ext cx="5257800" cy="18288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6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0D7598E-3FC0-D3E5-EC43-CDC796E85EC5}"/>
              </a:ext>
            </a:extLst>
          </p:cNvPr>
          <p:cNvSpPr/>
          <p:nvPr/>
        </p:nvSpPr>
        <p:spPr>
          <a:xfrm>
            <a:off x="6400800" y="1773936"/>
            <a:ext cx="54864" cy="1426464"/>
          </a:xfrm>
          <a:prstGeom prst="rect">
            <a:avLst/>
          </a:prstGeom>
          <a:solidFill>
            <a:srgbClr val="F07D5D"/>
          </a:solidFill>
          <a:ln w="8890">
            <a:solidFill>
              <a:srgbClr val="F07D5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E312539-8B9E-6A8F-245F-D13E91410B30}"/>
              </a:ext>
            </a:extLst>
          </p:cNvPr>
          <p:cNvSpPr txBox="1"/>
          <p:nvPr/>
        </p:nvSpPr>
        <p:spPr>
          <a:xfrm>
            <a:off x="6601968" y="1783080"/>
            <a:ext cx="4727448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500" b="1">
                <a:solidFill>
                  <a:srgbClr val="18211F"/>
                </a:solidFill>
                <a:latin typeface="Aptos" panose="020B0004020202020204" pitchFamily="34" charset="0"/>
              </a:rPr>
              <a:t>License enforcement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AE23C0A-2605-035B-5591-EFD1708C84BA}"/>
              </a:ext>
            </a:extLst>
          </p:cNvPr>
          <p:cNvSpPr txBox="1"/>
          <p:nvPr/>
        </p:nvSpPr>
        <p:spPr>
          <a:xfrm>
            <a:off x="6601968" y="2231136"/>
            <a:ext cx="4727448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>
                <a:solidFill>
                  <a:srgbClr val="45534D"/>
                </a:solidFill>
                <a:latin typeface="Aptos" panose="020B0004020202020204" pitchFamily="34" charset="0"/>
              </a:rPr>
              <a:t>The seven-day trial is local and explicitly not tamper-proof. Remote validation/activation support exists in parts, but the desktop flow is not integrated.</a:t>
            </a:r>
            <a:endParaRPr lang="en-IN" sz="1200">
              <a:solidFill>
                <a:srgbClr val="45534D"/>
              </a:solidFill>
              <a:latin typeface="Aptos" panose="020B0004020202020204" pitchFamily="3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EC95333-E824-2D5C-FABD-16C057D97CEB}"/>
              </a:ext>
            </a:extLst>
          </p:cNvPr>
          <p:cNvSpPr/>
          <p:nvPr/>
        </p:nvSpPr>
        <p:spPr>
          <a:xfrm>
            <a:off x="658368" y="3675888"/>
            <a:ext cx="5257800" cy="157276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6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BE0B2AF-A68B-A058-1185-F534AF68D536}"/>
              </a:ext>
            </a:extLst>
          </p:cNvPr>
          <p:cNvSpPr/>
          <p:nvPr/>
        </p:nvSpPr>
        <p:spPr>
          <a:xfrm>
            <a:off x="822960" y="3877056"/>
            <a:ext cx="54864" cy="1170432"/>
          </a:xfrm>
          <a:prstGeom prst="rect">
            <a:avLst/>
          </a:prstGeom>
          <a:solidFill>
            <a:srgbClr val="D8EF72"/>
          </a:solidFill>
          <a:ln w="8890">
            <a:solidFill>
              <a:srgbClr val="D8EF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1554E22-8C5D-D60F-3E3B-5BBAD4CCAA94}"/>
              </a:ext>
            </a:extLst>
          </p:cNvPr>
          <p:cNvSpPr txBox="1"/>
          <p:nvPr/>
        </p:nvSpPr>
        <p:spPr>
          <a:xfrm>
            <a:off x="1024128" y="3886200"/>
            <a:ext cx="4727448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500" b="1">
                <a:solidFill>
                  <a:srgbClr val="18211F"/>
                </a:solidFill>
                <a:latin typeface="Aptos" panose="020B0004020202020204" pitchFamily="34" charset="0"/>
              </a:rPr>
              <a:t>Framework target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F725572-207D-FC1B-1C2F-60923E2AD651}"/>
              </a:ext>
            </a:extLst>
          </p:cNvPr>
          <p:cNvSpPr txBox="1"/>
          <p:nvPr/>
        </p:nvSpPr>
        <p:spPr>
          <a:xfrm>
            <a:off x="1024128" y="4334256"/>
            <a:ext cx="4727448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>
                <a:solidFill>
                  <a:srgbClr val="45534D"/>
                </a:solidFill>
                <a:latin typeface="Aptos" panose="020B0004020202020204" pitchFamily="34" charset="0"/>
              </a:rPr>
              <a:t>Desktop project targets net9.0-windows; the project brief states .NET 10. Align target framework and CI before production release.</a:t>
            </a:r>
            <a:endParaRPr lang="en-IN" sz="1200">
              <a:solidFill>
                <a:srgbClr val="45534D"/>
              </a:solidFill>
              <a:latin typeface="Aptos" panose="020B0004020202020204" pitchFamily="34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0E8A2AC-3AC7-BB3A-9B7E-9C57704A6AC4}"/>
              </a:ext>
            </a:extLst>
          </p:cNvPr>
          <p:cNvSpPr/>
          <p:nvPr/>
        </p:nvSpPr>
        <p:spPr>
          <a:xfrm>
            <a:off x="6236208" y="3675888"/>
            <a:ext cx="5257800" cy="157276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6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2D94295-7FD9-6A26-6585-A0A0D494C169}"/>
              </a:ext>
            </a:extLst>
          </p:cNvPr>
          <p:cNvSpPr/>
          <p:nvPr/>
        </p:nvSpPr>
        <p:spPr>
          <a:xfrm>
            <a:off x="6400800" y="3877056"/>
            <a:ext cx="54864" cy="1170432"/>
          </a:xfrm>
          <a:prstGeom prst="rect">
            <a:avLst/>
          </a:prstGeom>
          <a:solidFill>
            <a:srgbClr val="72B7A1"/>
          </a:solidFill>
          <a:ln w="8890">
            <a:solidFill>
              <a:srgbClr val="72B7A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3688D6F-5E88-400D-F9DF-8D3913113C72}"/>
              </a:ext>
            </a:extLst>
          </p:cNvPr>
          <p:cNvSpPr txBox="1"/>
          <p:nvPr/>
        </p:nvSpPr>
        <p:spPr>
          <a:xfrm>
            <a:off x="6601968" y="3886200"/>
            <a:ext cx="4727448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500" b="1">
                <a:solidFill>
                  <a:srgbClr val="18211F"/>
                </a:solidFill>
                <a:latin typeface="Aptos" panose="020B0004020202020204" pitchFamily="34" charset="0"/>
              </a:rPr>
              <a:t>Evidence of readiness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47D7E97-4138-2517-4759-B98759E4AE74}"/>
              </a:ext>
            </a:extLst>
          </p:cNvPr>
          <p:cNvSpPr txBox="1"/>
          <p:nvPr/>
        </p:nvSpPr>
        <p:spPr>
          <a:xfrm>
            <a:off x="6601968" y="4334256"/>
            <a:ext cx="4727448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>
                <a:solidFill>
                  <a:srgbClr val="45534D"/>
                </a:solidFill>
                <a:latin typeface="Aptos" panose="020B0004020202020204" pitchFamily="34" charset="0"/>
              </a:rPr>
              <a:t>Validate end-to-end scans against real cloud tenants, provider permissions, incomplete-data behavior, and exported findings.</a:t>
            </a:r>
            <a:endParaRPr lang="en-IN" sz="1200">
              <a:solidFill>
                <a:srgbClr val="45534D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69310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AEDC146-615D-698C-41EB-3F4BF58C484F}"/>
              </a:ext>
            </a:extLst>
          </p:cNvPr>
          <p:cNvSpPr txBox="1"/>
          <p:nvPr/>
        </p:nvSpPr>
        <p:spPr>
          <a:xfrm>
            <a:off x="566928" y="347472"/>
            <a:ext cx="1078992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000" b="1">
                <a:solidFill>
                  <a:srgbClr val="668277"/>
                </a:solidFill>
                <a:latin typeface="Aptos" panose="020B0004020202020204" pitchFamily="34" charset="0"/>
              </a:rPr>
              <a:t>07 / RECOMMENDED NEXT STEPS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B6E586-53B4-27F4-9AC5-298F621FE254}"/>
              </a:ext>
            </a:extLst>
          </p:cNvPr>
          <p:cNvSpPr txBox="1"/>
          <p:nvPr/>
        </p:nvSpPr>
        <p:spPr>
          <a:xfrm>
            <a:off x="566928" y="658368"/>
            <a:ext cx="109728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700" b="1">
                <a:solidFill>
                  <a:srgbClr val="18211F"/>
                </a:solidFill>
                <a:latin typeface="Georgia" panose="02040502050405020303" pitchFamily="18" charset="0"/>
              </a:rPr>
              <a:t>The product promise is strong; prove the full loop</a:t>
            </a:r>
            <a:endParaRPr lang="en-IN" sz="2700" b="1">
              <a:solidFill>
                <a:srgbClr val="18211F"/>
              </a:solidFill>
              <a:latin typeface="Georgia" panose="02040502050405020303" pitchFamily="18" charset="0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328A4B2-D2E4-D39A-0233-DB805EC9426D}"/>
              </a:ext>
            </a:extLst>
          </p:cNvPr>
          <p:cNvSpPr/>
          <p:nvPr/>
        </p:nvSpPr>
        <p:spPr>
          <a:xfrm>
            <a:off x="566928" y="6382512"/>
            <a:ext cx="11064240" cy="0"/>
          </a:xfrm>
          <a:prstGeom prst="ellipse">
            <a:avLst/>
          </a:prstGeom>
          <a:ln w="10160">
            <a:solidFill>
              <a:srgbClr val="D6DD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B644D2-29EE-129F-78B6-F95DAFFCD3B4}"/>
              </a:ext>
            </a:extLst>
          </p:cNvPr>
          <p:cNvSpPr txBox="1"/>
          <p:nvPr/>
        </p:nvSpPr>
        <p:spPr>
          <a:xfrm>
            <a:off x="566928" y="6464808"/>
            <a:ext cx="996696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00">
                <a:solidFill>
                  <a:srgbClr val="64716B"/>
                </a:solidFill>
                <a:latin typeface="Aptos" panose="020B0004020202020204" pitchFamily="34" charset="0"/>
              </a:rPr>
              <a:t>Analysis based on README.md, solution project files, and docs/architecture + docs/cloud + docs/licensing</a:t>
            </a:r>
            <a:endParaRPr lang="en-IN" sz="800">
              <a:solidFill>
                <a:srgbClr val="64716B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3DD1AB-1771-A5DD-FB16-8499E6E835C2}"/>
              </a:ext>
            </a:extLst>
          </p:cNvPr>
          <p:cNvSpPr txBox="1"/>
          <p:nvPr/>
        </p:nvSpPr>
        <p:spPr>
          <a:xfrm>
            <a:off x="10972800" y="6437376"/>
            <a:ext cx="64008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900" b="1">
                <a:solidFill>
                  <a:srgbClr val="64716B"/>
                </a:solidFill>
                <a:latin typeface="Aptos" panose="020B0004020202020204" pitchFamily="34" charset="0"/>
              </a:rPr>
              <a:t>08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7331F7-496D-0F61-5C68-4D07629A978D}"/>
              </a:ext>
            </a:extLst>
          </p:cNvPr>
          <p:cNvSpPr txBox="1"/>
          <p:nvPr/>
        </p:nvSpPr>
        <p:spPr>
          <a:xfrm>
            <a:off x="658368" y="1389888"/>
            <a:ext cx="429768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100" b="1">
                <a:solidFill>
                  <a:srgbClr val="D8EF72"/>
                </a:solidFill>
                <a:latin typeface="Aptos" panose="020B0004020202020204" pitchFamily="34" charset="0"/>
              </a:rPr>
              <a:t>A practical sequence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C95C937-4E31-5B9C-226F-D9516A7B3F3D}"/>
              </a:ext>
            </a:extLst>
          </p:cNvPr>
          <p:cNvSpPr/>
          <p:nvPr/>
        </p:nvSpPr>
        <p:spPr>
          <a:xfrm>
            <a:off x="713232" y="1938528"/>
            <a:ext cx="475488" cy="475488"/>
          </a:xfrm>
          <a:prstGeom prst="roundRect">
            <a:avLst/>
          </a:prstGeom>
          <a:solidFill>
            <a:srgbClr val="D8EF72"/>
          </a:solidFill>
          <a:ln w="8890">
            <a:solidFill>
              <a:srgbClr val="D8EF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D87AE0E-B771-C96B-F935-010A085126CB}"/>
              </a:ext>
            </a:extLst>
          </p:cNvPr>
          <p:cNvSpPr txBox="1"/>
          <p:nvPr/>
        </p:nvSpPr>
        <p:spPr>
          <a:xfrm>
            <a:off x="850392" y="2057400"/>
            <a:ext cx="2286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100" b="1">
                <a:solidFill>
                  <a:srgbClr val="18211F"/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7D9AD90-3476-AB10-D201-3E2F4A25FE3E}"/>
              </a:ext>
            </a:extLst>
          </p:cNvPr>
          <p:cNvSpPr txBox="1"/>
          <p:nvPr/>
        </p:nvSpPr>
        <p:spPr>
          <a:xfrm>
            <a:off x="1444752" y="1929384"/>
            <a:ext cx="210312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600" b="1">
                <a:solidFill>
                  <a:srgbClr val="F6F4EC"/>
                </a:solidFill>
                <a:latin typeface="Aptos" panose="020B0004020202020204" pitchFamily="34" charset="0"/>
              </a:rPr>
              <a:t>Reconcile scope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9BC4E20-8669-DA04-1AEE-A9C8E80AC58E}"/>
              </a:ext>
            </a:extLst>
          </p:cNvPr>
          <p:cNvSpPr txBox="1"/>
          <p:nvPr/>
        </p:nvSpPr>
        <p:spPr>
          <a:xfrm>
            <a:off x="3657600" y="1929384"/>
            <a:ext cx="704088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>
                <a:solidFill>
                  <a:srgbClr val="C5D0C9"/>
                </a:solidFill>
                <a:latin typeface="Aptos" panose="020B0004020202020204" pitchFamily="34" charset="0"/>
              </a:rPr>
              <a:t>Create a code-backed capability matrix that resolves differences between README, architecture docs, and provider guide.</a:t>
            </a:r>
            <a:endParaRPr lang="en-IN" sz="1200">
              <a:solidFill>
                <a:srgbClr val="C5D0C9"/>
              </a:solidFill>
              <a:latin typeface="Aptos" panose="020B0004020202020204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E787916-0982-A29C-4A3B-9EB9FD57B3F9}"/>
              </a:ext>
            </a:extLst>
          </p:cNvPr>
          <p:cNvSpPr/>
          <p:nvPr/>
        </p:nvSpPr>
        <p:spPr>
          <a:xfrm>
            <a:off x="713232" y="3081528"/>
            <a:ext cx="475488" cy="475488"/>
          </a:xfrm>
          <a:prstGeom prst="roundRect">
            <a:avLst/>
          </a:prstGeom>
          <a:solidFill>
            <a:srgbClr val="D8EF72"/>
          </a:solidFill>
          <a:ln w="8890">
            <a:solidFill>
              <a:srgbClr val="D8EF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9582CDD-D19E-482F-D95D-E2B660C5FCED}"/>
              </a:ext>
            </a:extLst>
          </p:cNvPr>
          <p:cNvSpPr txBox="1"/>
          <p:nvPr/>
        </p:nvSpPr>
        <p:spPr>
          <a:xfrm>
            <a:off x="850392" y="3200400"/>
            <a:ext cx="2286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100" b="1">
                <a:solidFill>
                  <a:srgbClr val="18211F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E701FA5-3B09-9B86-AAB2-C9E83BE42BB7}"/>
              </a:ext>
            </a:extLst>
          </p:cNvPr>
          <p:cNvSpPr txBox="1"/>
          <p:nvPr/>
        </p:nvSpPr>
        <p:spPr>
          <a:xfrm>
            <a:off x="1444752" y="3072384"/>
            <a:ext cx="210312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600" b="1">
                <a:solidFill>
                  <a:srgbClr val="F6F4EC"/>
                </a:solidFill>
                <a:latin typeface="Aptos" panose="020B0004020202020204" pitchFamily="34" charset="0"/>
              </a:rPr>
              <a:t>Prove live scans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8E4D55E-EC1D-D823-95B6-101A21FDE897}"/>
              </a:ext>
            </a:extLst>
          </p:cNvPr>
          <p:cNvSpPr txBox="1"/>
          <p:nvPr/>
        </p:nvSpPr>
        <p:spPr>
          <a:xfrm>
            <a:off x="3657600" y="3072384"/>
            <a:ext cx="704088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>
                <a:solidFill>
                  <a:srgbClr val="C5D0C9"/>
                </a:solidFill>
                <a:latin typeface="Aptos" panose="020B0004020202020204" pitchFamily="34" charset="0"/>
              </a:rPr>
              <a:t>Run Azure, AWS, and GCP end to end; verify least-privilege permissions, partial failures, and evidence quality.</a:t>
            </a:r>
            <a:endParaRPr lang="en-IN" sz="1200">
              <a:solidFill>
                <a:srgbClr val="C5D0C9"/>
              </a:solidFill>
              <a:latin typeface="Aptos" panose="020B0004020202020204" pitchFamily="34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C8F2C11-1FDD-934B-B07E-6D23257331DB}"/>
              </a:ext>
            </a:extLst>
          </p:cNvPr>
          <p:cNvSpPr/>
          <p:nvPr/>
        </p:nvSpPr>
        <p:spPr>
          <a:xfrm>
            <a:off x="713232" y="4224528"/>
            <a:ext cx="475488" cy="475488"/>
          </a:xfrm>
          <a:prstGeom prst="roundRect">
            <a:avLst/>
          </a:prstGeom>
          <a:solidFill>
            <a:srgbClr val="D8EF72"/>
          </a:solidFill>
          <a:ln w="8890">
            <a:solidFill>
              <a:srgbClr val="D8EF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59300D3-44AA-1303-A276-11E0AC7F6BC4}"/>
              </a:ext>
            </a:extLst>
          </p:cNvPr>
          <p:cNvSpPr txBox="1"/>
          <p:nvPr/>
        </p:nvSpPr>
        <p:spPr>
          <a:xfrm>
            <a:off x="850392" y="4343400"/>
            <a:ext cx="2286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100" b="1">
                <a:solidFill>
                  <a:srgbClr val="18211F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099B50A-69C4-4942-6796-D3C6A4632EA9}"/>
              </a:ext>
            </a:extLst>
          </p:cNvPr>
          <p:cNvSpPr txBox="1"/>
          <p:nvPr/>
        </p:nvSpPr>
        <p:spPr>
          <a:xfrm>
            <a:off x="1444752" y="4215384"/>
            <a:ext cx="210312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600" b="1">
                <a:solidFill>
                  <a:srgbClr val="F6F4EC"/>
                </a:solidFill>
                <a:latin typeface="Aptos" panose="020B0004020202020204" pitchFamily="34" charset="0"/>
              </a:rPr>
              <a:t>Close release gaps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5161D14-B65C-2193-BC0F-93BCBC1BF2C5}"/>
              </a:ext>
            </a:extLst>
          </p:cNvPr>
          <p:cNvSpPr txBox="1"/>
          <p:nvPr/>
        </p:nvSpPr>
        <p:spPr>
          <a:xfrm>
            <a:off x="3657600" y="4215384"/>
            <a:ext cx="704088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>
                <a:solidFill>
                  <a:srgbClr val="C5D0C9"/>
                </a:solidFill>
                <a:latin typeface="Aptos" panose="020B0004020202020204" pitchFamily="34" charset="0"/>
              </a:rPr>
              <a:t>Integrate remote license enforcement and align the shipped framework target with the .NET 10 brief.</a:t>
            </a:r>
            <a:endParaRPr lang="en-IN" sz="1200">
              <a:solidFill>
                <a:srgbClr val="C5D0C9"/>
              </a:solidFill>
              <a:latin typeface="Aptos" panose="020B00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34469E0-4F19-49E2-3490-3ABF9F2CDA8B}"/>
              </a:ext>
            </a:extLst>
          </p:cNvPr>
          <p:cNvSpPr txBox="1"/>
          <p:nvPr/>
        </p:nvSpPr>
        <p:spPr>
          <a:xfrm>
            <a:off x="713232" y="5596128"/>
            <a:ext cx="1069848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 b="1">
                <a:solidFill>
                  <a:srgbClr val="D8EF72"/>
                </a:solidFill>
                <a:latin typeface="Georgia" panose="02040502050405020303" pitchFamily="18" charset="0"/>
              </a:rPr>
              <a:t>North star: an evidence-backed answer to who can do what, where, and why.</a:t>
            </a:r>
            <a:endParaRPr lang="en-IN" sz="1700" b="1">
              <a:solidFill>
                <a:srgbClr val="D8EF72"/>
              </a:solidFill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36931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921</Words>
  <Application>Microsoft Office PowerPoint</Application>
  <PresentationFormat>On-screen Show (16:10)</PresentationFormat>
  <Paragraphs>106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SHARMA Kamal K</dc:creator>
  <cp:lastModifiedBy>SHARMA Kamal K</cp:lastModifiedBy>
  <cp:revision>1</cp:revision>
  <dcterms:created xsi:type="dcterms:W3CDTF">2026-10-05T13:22:55Z</dcterms:created>
  <dcterms:modified xsi:type="dcterms:W3CDTF">2026-10-05T13:23:02Z</dcterms:modified>
</cp:coreProperties>
</file>